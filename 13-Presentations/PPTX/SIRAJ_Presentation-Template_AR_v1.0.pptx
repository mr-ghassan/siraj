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الوحدات المباعة</c:v>
                </c:pt>
              </c:strCache>
            </c:strRef>
          </c:tx>
          <c:spPr>
            <a:solidFill>
              <a:srgbClr val="AA9180"/>
            </a:solidFill>
          </c:spPr>
          <c:dPt>
            <c:idx val="0"/>
            <c:spPr>
              <a:solidFill>
                <a:srgbClr val="602733"/>
              </a:solidFill>
            </c:spPr>
          </c:dPt>
          <c:cat>
            <c:strRef>
              <c:f>Sheet1!$A$2:$A$8</c:f>
              <c:strCache>
                <c:ptCount val="7"/>
                <c:pt idx="0">
                  <c:v>مارس</c:v>
                </c:pt>
                <c:pt idx="1">
                  <c:v>أبريل</c:v>
                </c:pt>
                <c:pt idx="2">
                  <c:v>مايو</c:v>
                </c:pt>
                <c:pt idx="3">
                  <c:v>يونيو</c:v>
                </c:pt>
                <c:pt idx="4">
                  <c:v>يوليو</c:v>
                </c:pt>
                <c:pt idx="5">
                  <c:v>أغسطس</c:v>
                </c:pt>
                <c:pt idx="6">
                  <c:v>سبتمبر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</c:v>
                </c:pt>
                <c:pt idx="1">
                  <c:v>12</c:v>
                </c:pt>
                <c:pt idx="2">
                  <c:v>9</c:v>
                </c:pt>
                <c:pt idx="3">
                  <c:v>11</c:v>
                </c:pt>
                <c:pt idx="4">
                  <c:v>10</c:v>
                </c:pt>
                <c:pt idx="5">
                  <c:v>12</c:v>
                </c:pt>
                <c:pt idx="6">
                  <c:v>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solidFill>
                    <a:srgbClr val="3B3436"/>
                  </a:solidFill>
                  <a:latin typeface="Jost Ligh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B3436"/>
            </a:solidFill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 w="6350">
              <a:solidFill>
                <a:srgbClr val="AA9180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 Light"/>
              </a:defRPr>
            </a:pPr>
          </a:p>
        </c:txPr>
        <c:crossAx val="-2068027336"/>
        <c:crosses val="autoZero"/>
        <c:majorUnit val="5.0"/>
      </c:valAx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6B625E"/>
          </a:solidFill>
          <a:latin typeface="Jost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9"/>
          <c:y val="0.06"/>
          <c:w val="0.66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الخوير · مبانٍ جديدة</c:v>
                </c:pt>
              </c:strCache>
            </c:strRef>
          </c:tx>
          <c:spPr>
            <a:ln w="28575">
              <a:solidFill>
                <a:srgbClr val="602733"/>
              </a:solidFill>
            </a:ln>
          </c:spPr>
          <c:marker>
            <c:symbol val="circle"/>
            <c:size val="7"/>
            <c:spPr>
              <a:solidFill>
                <a:srgbClr val="F7F2ED"/>
              </a:solidFill>
              <a:ln>
                <a:solidFill>
                  <a:srgbClr val="602733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140E10"/>
                        </a:solidFill>
                        <a:latin typeface="Jost"/>
                      </a:rPr>
                      <a:t>الخوير 1,560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1180</c:v>
                </c:pt>
                <c:pt idx="1">
                  <c:v>1230</c:v>
                </c:pt>
                <c:pt idx="2">
                  <c:v>1290</c:v>
                </c:pt>
                <c:pt idx="3">
                  <c:v>1370</c:v>
                </c:pt>
                <c:pt idx="4">
                  <c:v>1460</c:v>
                </c:pt>
                <c:pt idx="5">
                  <c:v>1560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شقق مسقط</c:v>
                </c:pt>
              </c:strCache>
            </c:strRef>
          </c:tx>
          <c:spPr>
            <a:ln w="19050">
              <a:solidFill>
                <a:srgbClr val="8E837D"/>
              </a:solidFill>
            </a:ln>
          </c:spPr>
          <c:marker>
            <c:symbol val="circle"/>
            <c:size val="6"/>
            <c:spPr>
              <a:solidFill>
                <a:srgbClr val="F7F2ED"/>
              </a:solidFill>
              <a:ln>
                <a:solidFill>
                  <a:srgbClr val="8E837D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140E10"/>
                        </a:solidFill>
                        <a:latin typeface="Jost"/>
                      </a:rPr>
                      <a:t>مسقط 930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760</c:v>
                </c:pt>
                <c:pt idx="1">
                  <c:v>780</c:v>
                </c:pt>
                <c:pt idx="2">
                  <c:v>805</c:v>
                </c:pt>
                <c:pt idx="3">
                  <c:v>840</c:v>
                </c:pt>
                <c:pt idx="4">
                  <c:v>885</c:v>
                </c:pt>
                <c:pt idx="5">
                  <c:v>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مساكن نور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3"/>
            <c:spPr>
              <a:solidFill>
                <a:srgbClr val="AA9180"/>
              </a:solidFill>
              <a:ln>
                <a:solidFill>
                  <a:srgbClr val="AA9180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602733"/>
                        </a:solidFill>
                        <a:latin typeface="Jost"/>
                      </a:rPr>
                      <a:t>نور 1,670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5">
                  <c:v>1670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B3436"/>
            </a:solidFill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800.0"/>
          <c:min val="600.0"/>
        </c:scaling>
        <c:delete val="0"/>
        <c:axPos val="l"/>
        <c:majorGridlines>
          <c:spPr>
            <a:ln w="6350">
              <a:solidFill>
                <a:srgbClr val="AA9180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 Light"/>
              </a:defRPr>
            </a:pPr>
          </a:p>
        </c:txPr>
        <c:crossAx val="2118791784"/>
        <c:crosses val="autoZero"/>
        <c:majorUnit val="300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6B625E"/>
          </a:solidFill>
          <a:latin typeface="Jost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الغلاف. استبدل صورة البوابة بالنقر بزر الفأرة الأيمن ← تغيير الصورة؛ القوس العلوي يحافظ على شكل بوابة سراج.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فاصل قسم (حرير داكن). يُستخدم الحرير في الغلاف والفواصل والختام فقط.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عنوان + نص. العنوان بخط تجوال 28–32 نقطة، والنص 12–14 نقطة.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عمودان — صورة بزاوية حريرية واحدة + شبكة المواصفات.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أرقام رئيسية (داكن). الوحدات بلون الرمل، ويُميَّز الرقم الأهم بماسة لومن واحدة.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رسوم بيانية أصلية — انقر بزر الفأرة الأيمن ← تحرير البيانات. القواعد: خطوط شبكة رفيعة، تسميات مباشرة بلا مفتاح، العنابي للتمييز والحجري للباقي، وماسة لومن ◆ للنقطة الأهم.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جدول زمني. لومن عنابي ممتلئ = مكتمل، محدّد = قادم، حجري = مرحلة رئيسية. حرّك مؤشر «اليوم» مع تقدّم البرنامج.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صورة كاملة + تعليق. ضع النص في الثلث الأهدأ والأغمق من الصورة.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جدول بيانات أصلي — بلا تعبئة، بخطوط رفيعة، والأرقام بمحاذاة موحّدة.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اقتباس. جملة واحدة، والنسبة بأسلوب التعليق.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التخطيط: الختام والتواصل. بيانات التواصل من ملف brand.config.json (مؤقتة حتى التأكيد).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RAJ ·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rtal image" descr="SIRAJ_Photo_Campaign-Silk-Wrap_v1.0.jpg"/>
          <p:cNvPicPr>
            <a:picLocks noChangeAspect="1"/>
          </p:cNvPicPr>
          <p:nvPr/>
        </p:nvPicPr>
        <p:blipFill>
          <a:blip r:embed="rId2"/>
          <a:srcRect t="12371" b="18557"/>
          <a:stretch>
            <a:fillRect/>
          </a:stretch>
        </p:blipFill>
        <p:spPr>
          <a:xfrm>
            <a:off x="0" y="609600"/>
            <a:ext cx="5088467" cy="6248400"/>
          </a:xfrm>
          <a:prstGeom prst="round2SameRect">
            <a:avLst>
              <a:gd name="adj1" fmla="val 34000"/>
              <a:gd name="adj2" fmla="val 0"/>
            </a:avLst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09600"/>
            <a:ext cx="1066800" cy="305246"/>
          </a:xfrm>
          <a:prstGeom prst="rect">
            <a:avLst/>
          </a:prstGeom>
        </p:spPr>
      </p:pic>
      <p:sp>
        <p:nvSpPr>
          <p:cNvPr id="4" name="Lumen"/>
          <p:cNvSpPr/>
          <p:nvPr/>
        </p:nvSpPr>
        <p:spPr>
          <a:xfrm rot="2700000">
            <a:off x="11379200" y="3225800"/>
            <a:ext cx="50800" cy="508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5" name="Eyebrow"/>
          <p:cNvSpPr txBox="1"/>
          <p:nvPr/>
        </p:nvSpPr>
        <p:spPr>
          <a:xfrm>
            <a:off x="6845300" y="317500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عرض المستثمرين · أكتوبر 2026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291667" y="3505200"/>
            <a:ext cx="6138333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5600" lang="ar-OM">
                <a:solidFill>
                  <a:srgbClr val="F7F2ED"/>
                </a:solidFill>
                <a:latin typeface="Tajawal"/>
                <a:cs typeface="Tajawal"/>
              </a:rPr>
              <a:t>مساكن نور</a:t>
            </a:r>
          </a:p>
        </p:txBody>
      </p:sp>
      <p:sp>
        <p:nvSpPr>
          <p:cNvPr id="7" name="Arabic name"/>
          <p:cNvSpPr txBox="1"/>
          <p:nvPr/>
        </p:nvSpPr>
        <p:spPr>
          <a:xfrm>
            <a:off x="6197600" y="4381500"/>
            <a:ext cx="52324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4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6000" y="50165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600" lang="ar-OM">
                <a:solidFill>
                  <a:srgbClr val="E9DDD4"/>
                </a:solidFill>
                <a:latin typeface="Tajawal"/>
                <a:cs typeface="Tajawal"/>
              </a:rPr>
              <a:t>برج من 24 طابقًا يضم 168 وحدة سكنية في الخوير، مسقط.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6496050"/>
            <a:ext cx="571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سراج للتطوير العقاري · سرّي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ilk background" descr="SIRAJ_Silk_Drape-Lumen_16x9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70608">
                  <a:alpha val="78000"/>
                </a:srgbClr>
              </a:gs>
              <a:gs pos="38000">
                <a:srgbClr val="170608">
                  <a:alpha val="45000"/>
                </a:srgbClr>
              </a:gs>
              <a:gs pos="62000">
                <a:srgbClr val="170608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4" name="Section number"/>
          <p:cNvSpPr txBox="1"/>
          <p:nvPr/>
        </p:nvSpPr>
        <p:spPr>
          <a:xfrm>
            <a:off x="7670800" y="2540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80000"/>
              </a:lnSpc>
            </a:pPr>
            <a:r>
              <a:rPr sz="12000" lang="ar-OM">
                <a:solidFill>
                  <a:srgbClr val="D6C0B2"/>
                </a:solidFill>
                <a:latin typeface="Tajawal"/>
                <a:cs typeface="Tajawal"/>
              </a:rPr>
              <a:t>01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291667" y="4064000"/>
            <a:ext cx="6138333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5600" lang="ar-OM">
                <a:solidFill>
                  <a:srgbClr val="F7F2ED"/>
                </a:solidFill>
                <a:latin typeface="Tajawal"/>
                <a:cs typeface="Tajawal"/>
              </a:rPr>
              <a:t>المشروع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6000" y="50165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600" lang="ar-OM">
                <a:solidFill>
                  <a:srgbClr val="E9DDD4"/>
                </a:solidFill>
                <a:latin typeface="Tajawal"/>
                <a:cs typeface="Tajawal"/>
              </a:rPr>
              <a:t>أربعة وعشرون طابقًا يشكّلها الضوء، على العمود الساحلي لمسقط.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103533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02733"/>
                </a:solidFill>
                <a:latin typeface="Tajawal"/>
                <a:cs typeface="Tajawal"/>
              </a:rPr>
              <a:t>الملخص التنفيذي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103533" y="863600"/>
            <a:ext cx="4326467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140E10"/>
                </a:solidFill>
                <a:latin typeface="Tajawal"/>
                <a:cs typeface="Tajawal"/>
              </a:rPr>
              <a:t>برج هادئ في قلب مسقط، بيع نصفه خلال سبعة أشهر.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3533" y="4826000"/>
            <a:ext cx="4326467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000" lang="ar-OM">
                <a:solidFill>
                  <a:srgbClr val="140E10"/>
                </a:solidFill>
                <a:latin typeface="Tajawal"/>
                <a:cs typeface="Tajawal"/>
              </a:rPr>
              <a:t>84 من 168</a:t>
            </a:r>
            <a:r>
              <a:rPr sz="1800" lang="ar-OM">
                <a:solidFill>
                  <a:srgbClr val="6B625E"/>
                </a:solidFill>
                <a:latin typeface="Tajawal"/>
                <a:cs typeface="Tajawal"/>
              </a:rPr>
              <a:t/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7103533" y="5867400"/>
            <a:ext cx="4326467" cy="0"/>
          </a:xfrm>
          <a:prstGeom prst="line">
            <a:avLst/>
          </a:prstGeom>
          <a:ln w="19050">
            <a:solidFill>
              <a:srgbClr val="AA9180">
                <a:alpha val="35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9266767" y="5867400"/>
            <a:ext cx="2163233" cy="0"/>
          </a:xfrm>
          <a:prstGeom prst="line">
            <a:avLst/>
          </a:prstGeom>
          <a:ln w="19050">
            <a:solidFill>
              <a:srgbClr val="602733"/>
            </a:solidFill>
          </a:ln>
        </p:spPr>
      </p:cxnSp>
      <p:sp>
        <p:nvSpPr>
          <p:cNvPr id="7" name="Lumen"/>
          <p:cNvSpPr/>
          <p:nvPr/>
        </p:nvSpPr>
        <p:spPr>
          <a:xfrm rot="2700000">
            <a:off x="9222317" y="5822950"/>
            <a:ext cx="88900" cy="889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8" name="TextBox 7"/>
          <p:cNvSpPr txBox="1"/>
          <p:nvPr/>
        </p:nvSpPr>
        <p:spPr>
          <a:xfrm>
            <a:off x="7103533" y="60198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B625E"/>
                </a:solidFill>
                <a:latin typeface="Tajawal"/>
                <a:cs typeface="Tajawal"/>
              </a:rPr>
              <a:t>وحدة مباعة · سبتمبر 2026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762000" y="6604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Lumen"/>
          <p:cNvSpPr/>
          <p:nvPr/>
        </p:nvSpPr>
        <p:spPr>
          <a:xfrm rot="2700000">
            <a:off x="5924550" y="10223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11" name="TextBox 10"/>
          <p:cNvSpPr txBox="1"/>
          <p:nvPr/>
        </p:nvSpPr>
        <p:spPr>
          <a:xfrm>
            <a:off x="762000" y="9144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00" lang="ar-OM">
                <a:solidFill>
                  <a:srgbClr val="140E10"/>
                </a:solidFill>
                <a:latin typeface="Tajawal"/>
                <a:cs typeface="Tajawal"/>
              </a:rPr>
              <a:t>عنوان مميّز ومتّصل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2446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200" lang="ar-OM">
                <a:solidFill>
                  <a:srgbClr val="6B625E"/>
                </a:solidFill>
                <a:latin typeface="Tajawal"/>
                <a:cs typeface="Tajawal"/>
              </a:rPr>
              <a:t>على شارع السلطان قابوس في الخوير، على بُعد خمس دقائق من الجامع الأكبر وخمس عشرة دقيقة من المطار.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62000" y="20066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4" name="Lumen"/>
          <p:cNvSpPr/>
          <p:nvPr/>
        </p:nvSpPr>
        <p:spPr>
          <a:xfrm rot="2700000">
            <a:off x="5924550" y="23685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15" name="TextBox 14"/>
          <p:cNvSpPr txBox="1"/>
          <p:nvPr/>
        </p:nvSpPr>
        <p:spPr>
          <a:xfrm>
            <a:off x="762000" y="22606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00" lang="ar-OM">
                <a:solidFill>
                  <a:srgbClr val="140E10"/>
                </a:solidFill>
                <a:latin typeface="Tajawal"/>
                <a:cs typeface="Tajawal"/>
              </a:rPr>
              <a:t>إقبال مبكر قوي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5908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200" lang="ar-OM">
                <a:solidFill>
                  <a:srgbClr val="6B625E"/>
                </a:solidFill>
                <a:latin typeface="Tajawal"/>
                <a:cs typeface="Tajawal"/>
              </a:rPr>
              <a:t>بيعت 84 وحدة من 168 منذ الإطلاق في مارس 2026، بمعدل اثنتي عشرة وحدة شهريًا تقريبًا.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62000" y="33528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8" name="Lumen"/>
          <p:cNvSpPr/>
          <p:nvPr/>
        </p:nvSpPr>
        <p:spPr>
          <a:xfrm rot="2700000">
            <a:off x="5924550" y="37147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19" name="TextBox 18"/>
          <p:cNvSpPr txBox="1"/>
          <p:nvPr/>
        </p:nvSpPr>
        <p:spPr>
          <a:xfrm>
            <a:off x="762000" y="36068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00" lang="ar-OM">
                <a:solidFill>
                  <a:srgbClr val="140E10"/>
                </a:solidFill>
                <a:latin typeface="Tajawal"/>
                <a:cs typeface="Tajawal"/>
              </a:rPr>
              <a:t>جدوى متينة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9370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200" lang="ar-OM">
                <a:solidFill>
                  <a:srgbClr val="6B625E"/>
                </a:solidFill>
                <a:latin typeface="Tajawal"/>
                <a:cs typeface="Tajawal"/>
              </a:rPr>
              <a:t>قيمة تطوير إجمالية 40.0 مليون ر.ع. وهامش إجمالي متوقع 27% على ميزانية 29.2 مليون ر.ع.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62000" y="46990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Lumen"/>
          <p:cNvSpPr/>
          <p:nvPr/>
        </p:nvSpPr>
        <p:spPr>
          <a:xfrm rot="2700000">
            <a:off x="5924550" y="50609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23" name="TextBox 22"/>
          <p:cNvSpPr txBox="1"/>
          <p:nvPr/>
        </p:nvSpPr>
        <p:spPr>
          <a:xfrm>
            <a:off x="762000" y="49530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00" lang="ar-OM">
                <a:solidFill>
                  <a:srgbClr val="140E10"/>
                </a:solidFill>
                <a:latin typeface="Tajawal"/>
                <a:cs typeface="Tajawal"/>
              </a:rPr>
              <a:t>وفق الجدول للتسليم في الربع الرابع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52832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sz="1200" lang="ar-OM">
                <a:solidFill>
                  <a:srgbClr val="6B625E"/>
                </a:solidFill>
                <a:latin typeface="Tajawal"/>
                <a:cs typeface="Tajawal"/>
              </a:rPr>
              <a:t>اكتملت الأساسات والمنصة، ووصل الهيكل إلى الطابق 9 من 24.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762000" y="60452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6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27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الملخص التنفيذي</a:t>
            </a:r>
          </a:p>
        </p:txBody>
      </p:sp>
      <p:sp>
        <p:nvSpPr>
          <p:cNvPr id="28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03</a:t>
            </a:r>
          </a:p>
        </p:txBody>
      </p:sp>
      <p:pic>
        <p:nvPicPr>
          <p:cNvPr id="29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· Silk Corner" descr="SIRAJ_Photo_Residential-Tower-Golden-Hour_v1.0.jpg"/>
          <p:cNvPicPr>
            <a:picLocks noChangeAspect="1"/>
          </p:cNvPicPr>
          <p:nvPr/>
        </p:nvPicPr>
        <p:blipFill>
          <a:blip r:embed="rId2"/>
          <a:srcRect l="25417" r="25417"/>
          <a:stretch>
            <a:fillRect/>
          </a:stretch>
        </p:blipFill>
        <p:spPr>
          <a:xfrm>
            <a:off x="6197600" y="0"/>
            <a:ext cx="5994400" cy="6858000"/>
          </a:xfrm>
          <a:prstGeom prst="round1Rect">
            <a:avLst>
              <a:gd name="adj" fmla="val 30000"/>
            </a:avLst>
          </a:prstGeom>
        </p:spPr>
      </p:pic>
      <p:sp>
        <p:nvSpPr>
          <p:cNvPr id="3" name="Eyebrow"/>
          <p:cNvSpPr txBox="1"/>
          <p:nvPr/>
        </p:nvSpPr>
        <p:spPr>
          <a:xfrm>
            <a:off x="762000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02733"/>
                </a:solidFill>
                <a:latin typeface="Tajawal"/>
                <a:cs typeface="Tajawal"/>
              </a:rPr>
              <a:t>نظرة عامة على المشروع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62000" y="863600"/>
            <a:ext cx="43264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140E10"/>
                </a:solidFill>
                <a:latin typeface="Tajawal"/>
                <a:cs typeface="Tajawal"/>
              </a:rPr>
              <a:t>مساكن نور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98600"/>
            <a:ext cx="4326467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lang="ar-OM">
                <a:solidFill>
                  <a:srgbClr val="6B625E"/>
                </a:solidFill>
                <a:latin typeface="Tajawal"/>
                <a:cs typeface="Tajawal"/>
              </a:rPr>
              <a:t>برج رشيق من الحجر الدافئ والبرونز، تلطّف شرفاته العميقة شمس العصر وتؤطّر إطلالات ممتدة على بحر عُمان.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3026833" y="347980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3026834" y="36322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الموقع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26834" y="38100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الخوير، مسقط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762000" y="347980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62000" y="36322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النوع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38100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برج سكني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026833" y="417195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3026834" y="43243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الطوابق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834" y="45021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24 + منصة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762000" y="417195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62000" y="43243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الوحدات السكنية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5021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168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026833" y="486410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3026834" y="50165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مساحة الأرض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834" y="51943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5,170 م²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62000" y="486410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62000" y="50165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إجمالي المساحة المبنية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51943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31,500 م²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026833" y="555625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3026834" y="57086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المساحة القابلة للبيع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834" y="58864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23,930 م²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762000" y="555625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62000" y="57086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التسليم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58864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الربع 4 · 2027</a:t>
            </a:r>
          </a:p>
        </p:txBody>
      </p:sp>
      <p:sp>
        <p:nvSpPr>
          <p:cNvPr id="30" name="Lumen"/>
          <p:cNvSpPr/>
          <p:nvPr/>
        </p:nvSpPr>
        <p:spPr>
          <a:xfrm rot="2700000">
            <a:off x="5040842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31" name="Footer · section"/>
          <p:cNvSpPr txBox="1"/>
          <p:nvPr/>
        </p:nvSpPr>
        <p:spPr>
          <a:xfrm>
            <a:off x="516467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01 · المشروع</a:t>
            </a:r>
          </a:p>
        </p:txBody>
      </p:sp>
      <p:sp>
        <p:nvSpPr>
          <p:cNvPr id="32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04</a:t>
            </a:r>
          </a:p>
        </p:txBody>
      </p:sp>
      <p:pic>
        <p:nvPicPr>
          <p:cNvPr id="33" name="SIRAJ wordmark" descr="SIRAJ_Logo_Primary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385733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أرقام رئيسية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385733" y="863600"/>
            <a:ext cx="70442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F7F2ED"/>
                </a:solidFill>
                <a:latin typeface="Tajawal"/>
                <a:cs typeface="Tajawal"/>
              </a:rPr>
              <a:t>مساكن نور في لمحة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8009467" y="24892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8009467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168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9467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وحدة سكنية على 24 طابقًا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4385733" y="2489200"/>
            <a:ext cx="3420534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4385734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50%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5734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بيعت خلال سبعة أشهر من الإطلاق</a:t>
            </a:r>
          </a:p>
        </p:txBody>
      </p:sp>
      <p:sp>
        <p:nvSpPr>
          <p:cNvPr id="10" name="Lumen"/>
          <p:cNvSpPr/>
          <p:nvPr/>
        </p:nvSpPr>
        <p:spPr>
          <a:xfrm rot="2700000">
            <a:off x="4404783" y="2838450"/>
            <a:ext cx="114300" cy="1143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cxnSp>
        <p:nvCxnSpPr>
          <p:cNvPr id="11" name="Connector 10"/>
          <p:cNvCxnSpPr/>
          <p:nvPr/>
        </p:nvCxnSpPr>
        <p:spPr>
          <a:xfrm flipH="1">
            <a:off x="762000" y="24892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62000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40.0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القيمة الإجمالية للتطوير · مليون ر.ع.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009467" y="43688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8009467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27%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9467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الهامش الإجمالي المتوقع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385733" y="4368800"/>
            <a:ext cx="3420534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385734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6.4%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5734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العائد الإيجاري الإجمالي المتوقع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62000" y="43688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762000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6600" lang="ar-OM">
                <a:solidFill>
                  <a:srgbClr val="F7F2ED"/>
                </a:solidFill>
                <a:latin typeface="Tajawal"/>
                <a:cs typeface="Tajawal"/>
              </a:rPr>
              <a:t>2027</a:t>
            </a:r>
            <a:r>
              <a:rPr sz="2000" lang="ar-OM">
                <a:solidFill>
                  <a:srgbClr val="D6C0B2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200" lang="ar-OM">
                <a:solidFill>
                  <a:srgbClr val="E9DDD4"/>
                </a:solidFill>
                <a:latin typeface="Tajawal"/>
                <a:cs typeface="Tajawal"/>
              </a:rPr>
              <a:t>التسليم · الربع الرابع</a:t>
            </a:r>
          </a:p>
        </p:txBody>
      </p:sp>
      <p:sp>
        <p:nvSpPr>
          <p:cNvPr id="23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24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02 · الأداء</a:t>
            </a:r>
          </a:p>
        </p:txBody>
      </p:sp>
      <p:sp>
        <p:nvSpPr>
          <p:cNvPr id="25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05</a:t>
            </a:r>
          </a:p>
        </p:txBody>
      </p:sp>
      <p:pic>
        <p:nvPicPr>
          <p:cNvPr id="26" name="SIRAJ wordmark" descr="SIRAJ_Logo_Sand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385733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02733"/>
                </a:solidFill>
                <a:latin typeface="Tajawal"/>
                <a:cs typeface="Tajawal"/>
              </a:rPr>
              <a:t>المبيعات والتسعير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2573867" y="863600"/>
            <a:ext cx="8856133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140E10"/>
                </a:solidFill>
                <a:latin typeface="Tajawal"/>
                <a:cs typeface="Tajawal"/>
              </a:rPr>
              <a:t>إقبال ثابت بسعر أعلى من السوق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7600" y="1854200"/>
            <a:ext cx="5232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وتيرة المبيعات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7600" y="2146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000" lang="ar-OM">
                <a:solidFill>
                  <a:srgbClr val="6B625E"/>
                </a:solidFill>
                <a:latin typeface="Tajawal"/>
                <a:cs typeface="Tajawal"/>
              </a:rPr>
              <a:t>الوحدات المباعة شهريًا، 2026 · 84 حتى الآن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854200"/>
            <a:ext cx="5232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500" lang="ar-OM">
                <a:solidFill>
                  <a:srgbClr val="140E10"/>
                </a:solidFill>
                <a:latin typeface="Tajawal"/>
                <a:cs typeface="Tajawal"/>
              </a:rPr>
              <a:t>سعر المتر المربع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146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000" lang="ar-OM">
                <a:solidFill>
                  <a:srgbClr val="6B625E"/>
                </a:solidFill>
                <a:latin typeface="Tajawal"/>
                <a:cs typeface="Tajawal"/>
              </a:rPr>
              <a:t>متوسط السعر المطلوب، ر.ع. لكل م² من المساحة القابلة للبيع</a:t>
            </a:r>
          </a:p>
        </p:txBody>
      </p:sp>
      <p:graphicFrame>
        <p:nvGraphicFramePr>
          <p:cNvPr id="8" name="Chart · Sales velocity"/>
          <p:cNvGraphicFramePr>
            <a:graphicFrameLocks noGrp="1"/>
          </p:cNvGraphicFramePr>
          <p:nvPr/>
        </p:nvGraphicFramePr>
        <p:xfrm>
          <a:off x="6197600" y="2540000"/>
          <a:ext cx="5334000" cy="3175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· Price per m²"/>
          <p:cNvGraphicFramePr>
            <a:graphicFrameLocks noGrp="1"/>
          </p:cNvGraphicFramePr>
          <p:nvPr/>
        </p:nvGraphicFramePr>
        <p:xfrm>
          <a:off x="762000" y="2540000"/>
          <a:ext cx="5334000" cy="3175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2000" y="60452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المصدر: سجلات مبيعات سراج، سبتمبر 2026. بيانات السوق توضيحية لأغراض العرض.</a:t>
            </a:r>
          </a:p>
        </p:txBody>
      </p:sp>
      <p:sp>
        <p:nvSpPr>
          <p:cNvPr id="11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12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02 · الأداء</a:t>
            </a:r>
          </a:p>
        </p:txBody>
      </p:sp>
      <p:sp>
        <p:nvSpPr>
          <p:cNvPr id="13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06</a:t>
            </a:r>
          </a:p>
        </p:txBody>
      </p:sp>
      <p:pic>
        <p:nvPicPr>
          <p:cNvPr id="14" name="SIRAJ wordmark" descr="SIRAJ_Logo_Primary_v1.0_1024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291667" y="609600"/>
            <a:ext cx="613833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02733"/>
                </a:solidFill>
                <a:latin typeface="Tajawal"/>
                <a:cs typeface="Tajawal"/>
              </a:rPr>
              <a:t>التنفيذ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291667" y="863600"/>
            <a:ext cx="61383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140E10"/>
                </a:solidFill>
                <a:latin typeface="Tajawal"/>
                <a:cs typeface="Tajawal"/>
              </a:rPr>
              <a:t>وفق الجدول للتسليم في الربع الرابع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91667" y="1905000"/>
            <a:ext cx="6138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300" lang="ar-OM">
                <a:solidFill>
                  <a:srgbClr val="6B625E"/>
                </a:solidFill>
                <a:latin typeface="Tajawal"/>
                <a:cs typeface="Tajawal"/>
              </a:rPr>
              <a:t>وصل الهيكل إلى الطابق 9 من 24، ونسبة الإنجاز 38%.</a:t>
            </a:r>
          </a:p>
        </p:txBody>
      </p:sp>
      <p:pic>
        <p:nvPicPr>
          <p:cNvPr id="5" name="Site photo" descr="SIRAJ_Photo_Construction-Site-Dawn_v1.0.jpg"/>
          <p:cNvPicPr>
            <a:picLocks noChangeAspect="1"/>
          </p:cNvPicPr>
          <p:nvPr/>
        </p:nvPicPr>
        <p:blipFill>
          <a:blip r:embed="rId2"/>
          <a:srcRect t="10861" b="10861"/>
          <a:stretch>
            <a:fillRect/>
          </a:stretch>
        </p:blipFill>
        <p:spPr>
          <a:xfrm>
            <a:off x="762000" y="609600"/>
            <a:ext cx="4326467" cy="190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26162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B625E"/>
                </a:solidFill>
                <a:latin typeface="Tajawal"/>
                <a:cs typeface="Tajawal"/>
              </a:rPr>
              <a:t>تقدّم الموقع · أكتوبر 2026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762000" y="4826000"/>
            <a:ext cx="106680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5651500" y="4826000"/>
            <a:ext cx="5778500" cy="0"/>
          </a:xfrm>
          <a:prstGeom prst="line">
            <a:avLst/>
          </a:prstGeom>
          <a:ln w="19050">
            <a:solidFill>
              <a:srgbClr val="602733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5651500" y="4216400"/>
            <a:ext cx="0" cy="609600"/>
          </a:xfrm>
          <a:prstGeom prst="line">
            <a:avLst/>
          </a:prstGeom>
          <a:ln w="9525">
            <a:solidFill>
              <a:srgbClr val="602733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3022600" y="41656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02733"/>
                </a:solidFill>
                <a:latin typeface="Tajawal"/>
                <a:cs typeface="Tajawal"/>
              </a:rPr>
              <a:t>اليوم · أكتوبر 2026</a:t>
            </a:r>
          </a:p>
        </p:txBody>
      </p:sp>
      <p:sp>
        <p:nvSpPr>
          <p:cNvPr id="11" name="Lumen"/>
          <p:cNvSpPr/>
          <p:nvPr/>
        </p:nvSpPr>
        <p:spPr>
          <a:xfrm rot="2700000">
            <a:off x="113284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12" name="TextBox 11"/>
          <p:cNvSpPr txBox="1"/>
          <p:nvPr/>
        </p:nvSpPr>
        <p:spPr>
          <a:xfrm>
            <a:off x="102743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2 ·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43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شراء الأرض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43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تأمين الأرض على شارع السلطان قابوس</a:t>
            </a:r>
          </a:p>
        </p:txBody>
      </p:sp>
      <p:sp>
        <p:nvSpPr>
          <p:cNvPr id="15" name="Lumen"/>
          <p:cNvSpPr/>
          <p:nvPr/>
        </p:nvSpPr>
        <p:spPr>
          <a:xfrm rot="2700000">
            <a:off x="99695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16" name="TextBox 15"/>
          <p:cNvSpPr txBox="1"/>
          <p:nvPr/>
        </p:nvSpPr>
        <p:spPr>
          <a:xfrm>
            <a:off x="89154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4 ·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التراخيص والتصميم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رخصة البناء واعتماد التصميم</a:t>
            </a:r>
          </a:p>
        </p:txBody>
      </p:sp>
      <p:sp>
        <p:nvSpPr>
          <p:cNvPr id="19" name="Lumen"/>
          <p:cNvSpPr/>
          <p:nvPr/>
        </p:nvSpPr>
        <p:spPr>
          <a:xfrm rot="2700000">
            <a:off x="86106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20" name="TextBox 19"/>
          <p:cNvSpPr txBox="1"/>
          <p:nvPr/>
        </p:nvSpPr>
        <p:spPr>
          <a:xfrm>
            <a:off x="75565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1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65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إطلاق المبيعات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65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طُرح في السوق في مارس</a:t>
            </a:r>
          </a:p>
        </p:txBody>
      </p:sp>
      <p:sp>
        <p:nvSpPr>
          <p:cNvPr id="23" name="Lumen"/>
          <p:cNvSpPr/>
          <p:nvPr/>
        </p:nvSpPr>
        <p:spPr>
          <a:xfrm rot="2700000">
            <a:off x="72517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24" name="TextBox 23"/>
          <p:cNvSpPr txBox="1"/>
          <p:nvPr/>
        </p:nvSpPr>
        <p:spPr>
          <a:xfrm>
            <a:off x="61976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2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6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الأساسات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76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الخوازيق وطابقان تحت الأرض</a:t>
            </a:r>
          </a:p>
        </p:txBody>
      </p:sp>
      <p:sp>
        <p:nvSpPr>
          <p:cNvPr id="27" name="Lumen"/>
          <p:cNvSpPr/>
          <p:nvPr/>
        </p:nvSpPr>
        <p:spPr>
          <a:xfrm rot="2700000">
            <a:off x="58928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28" name="TextBox 27"/>
          <p:cNvSpPr txBox="1"/>
          <p:nvPr/>
        </p:nvSpPr>
        <p:spPr>
          <a:xfrm>
            <a:off x="48387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3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87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المنصة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387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بلاطة المنصة وهيكل المرافق</a:t>
            </a:r>
          </a:p>
        </p:txBody>
      </p:sp>
      <p:sp>
        <p:nvSpPr>
          <p:cNvPr id="31" name="Lumen"/>
          <p:cNvSpPr/>
          <p:nvPr/>
        </p:nvSpPr>
        <p:spPr>
          <a:xfrm rot="2700000">
            <a:off x="4533900" y="4775200"/>
            <a:ext cx="101600" cy="101600"/>
          </a:xfrm>
          <a:prstGeom prst="rect">
            <a:avLst/>
          </a:prstGeom>
          <a:noFill/>
          <a:ln w="12700">
            <a:solidFill>
              <a:srgbClr val="AA91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32" name="TextBox 31"/>
          <p:cNvSpPr txBox="1"/>
          <p:nvPr/>
        </p:nvSpPr>
        <p:spPr>
          <a:xfrm>
            <a:off x="34798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2 ·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98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اكتمال الهيكل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98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اكتمال الهيكل حتى الطابق 24</a:t>
            </a:r>
          </a:p>
        </p:txBody>
      </p:sp>
      <p:sp>
        <p:nvSpPr>
          <p:cNvPr id="35" name="Lumen"/>
          <p:cNvSpPr/>
          <p:nvPr/>
        </p:nvSpPr>
        <p:spPr>
          <a:xfrm rot="2700000">
            <a:off x="3175000" y="4775200"/>
            <a:ext cx="101600" cy="101600"/>
          </a:xfrm>
          <a:prstGeom prst="rect">
            <a:avLst/>
          </a:prstGeom>
          <a:noFill/>
          <a:ln w="12700">
            <a:solidFill>
              <a:srgbClr val="AA91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36" name="TextBox 35"/>
          <p:cNvSpPr txBox="1"/>
          <p:nvPr/>
        </p:nvSpPr>
        <p:spPr>
          <a:xfrm>
            <a:off x="21209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3 · 2027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09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الواجهات والتشطيب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209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إغلاق الغلاف الخارجي وبدء الأعمال الداخلية</a:t>
            </a:r>
          </a:p>
        </p:txBody>
      </p:sp>
      <p:sp>
        <p:nvSpPr>
          <p:cNvPr id="39" name="Lumen"/>
          <p:cNvSpPr/>
          <p:nvPr/>
        </p:nvSpPr>
        <p:spPr>
          <a:xfrm rot="2700000">
            <a:off x="1816100" y="4775200"/>
            <a:ext cx="101600" cy="1016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40" name="TextBox 39"/>
          <p:cNvSpPr txBox="1"/>
          <p:nvPr/>
        </p:nvSpPr>
        <p:spPr>
          <a:xfrm>
            <a:off x="762000" y="5118100"/>
            <a:ext cx="11557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700" lang="ar-OM">
                <a:solidFill>
                  <a:srgbClr val="140E10"/>
                </a:solidFill>
                <a:latin typeface="Tajawal"/>
                <a:cs typeface="Tajawal"/>
              </a:rPr>
              <a:t>الربع 4 · 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461000"/>
            <a:ext cx="1155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1100" lang="ar-OM">
                <a:solidFill>
                  <a:srgbClr val="140E10"/>
                </a:solidFill>
                <a:latin typeface="Tajawal"/>
                <a:cs typeface="Tajawal"/>
              </a:rPr>
              <a:t>التسليم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0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950" lang="ar-OM">
                <a:solidFill>
                  <a:srgbClr val="6B625E"/>
                </a:solidFill>
                <a:latin typeface="Tajawal"/>
                <a:cs typeface="Tajawal"/>
              </a:rPr>
              <a:t>تسليم المفاتيح لأول السكان</a:t>
            </a:r>
          </a:p>
        </p:txBody>
      </p:sp>
      <p:sp>
        <p:nvSpPr>
          <p:cNvPr id="43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rtl="1"/>
          </a:p>
        </p:txBody>
      </p:sp>
      <p:sp>
        <p:nvSpPr>
          <p:cNvPr id="44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02 · الأداء</a:t>
            </a:r>
          </a:p>
        </p:txBody>
      </p:sp>
      <p:sp>
        <p:nvSpPr>
          <p:cNvPr id="45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07</a:t>
            </a:r>
          </a:p>
        </p:txBody>
      </p:sp>
      <p:pic>
        <p:nvPicPr>
          <p:cNvPr id="46" name="SIRAJ wordmark" descr="SIRAJ_Logo_Primary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ull-bleed image" descr="SIRAJ_Photo_Apartment-Interior-Sea-View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70608">
                  <a:alpha val="72000"/>
                </a:srgbClr>
              </a:gs>
              <a:gs pos="38000">
                <a:srgbClr val="170608">
                  <a:alpha val="40000"/>
                </a:srgbClr>
              </a:gs>
              <a:gs pos="62000">
                <a:srgbClr val="170608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4" name="Scrim"/>
          <p:cNvSpPr/>
          <p:nvPr/>
        </p:nvSpPr>
        <p:spPr>
          <a:xfrm>
            <a:off x="0" y="3810000"/>
            <a:ext cx="12192000" cy="3048000"/>
          </a:xfrm>
          <a:prstGeom prst="rect">
            <a:avLst/>
          </a:prstGeom>
          <a:gradFill rotWithShape="1">
            <a:gsLst>
              <a:gs pos="0">
                <a:srgbClr val="170608">
                  <a:alpha val="0"/>
                </a:srgbClr>
              </a:gs>
              <a:gs pos="100000">
                <a:srgbClr val="170608">
                  <a:alpha val="5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5" name="Eyebrow"/>
          <p:cNvSpPr txBox="1"/>
          <p:nvPr/>
        </p:nvSpPr>
        <p:spPr>
          <a:xfrm>
            <a:off x="7103533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الوحدات السكنية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7103533" y="863600"/>
            <a:ext cx="4326467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F7F2ED"/>
                </a:solidFill>
                <a:latin typeface="Tajawal"/>
                <a:cs typeface="Tajawal"/>
              </a:rPr>
              <a:t>كل بيت ينفتح على ضوء البحر.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7600" y="2006600"/>
            <a:ext cx="5232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صالة نموذجية لوحدة بغرفتي نوم · تصوّر</a:t>
            </a:r>
          </a:p>
        </p:txBody>
      </p:sp>
      <p:sp>
        <p:nvSpPr>
          <p:cNvPr id="8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9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01 · المشروع</a:t>
            </a:r>
          </a:p>
        </p:txBody>
      </p:sp>
      <p:sp>
        <p:nvSpPr>
          <p:cNvPr id="10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08</a:t>
            </a:r>
          </a:p>
        </p:txBody>
      </p:sp>
      <p:pic>
        <p:nvPicPr>
          <p:cNvPr id="11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385733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602733"/>
                </a:solidFill>
                <a:latin typeface="Tajawal"/>
                <a:cs typeface="Tajawal"/>
              </a:rPr>
              <a:t>البيانات المالية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385733" y="863600"/>
            <a:ext cx="70442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8000"/>
              </a:lnSpc>
            </a:pPr>
            <a:r>
              <a:rPr sz="3000" lang="ar-OM">
                <a:solidFill>
                  <a:srgbClr val="140E10"/>
                </a:solidFill>
                <a:latin typeface="Tajawal"/>
                <a:cs typeface="Tajawal"/>
              </a:rPr>
              <a:t>ميزانية التطوير والعوائد</a:t>
            </a:r>
          </a:p>
        </p:txBody>
      </p:sp>
      <p:graphicFrame>
        <p:nvGraphicFramePr>
          <p:cNvPr id="4" name="Table · Budget"/>
          <p:cNvGraphicFramePr>
            <a:graphicFrameLocks noGrp="1"/>
          </p:cNvGraphicFramePr>
          <p:nvPr/>
        </p:nvGraphicFramePr>
        <p:xfrm>
          <a:off x="4385733" y="1841500"/>
          <a:ext cx="7044267" cy="33655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79296"/>
                <a:gridCol w="1479296"/>
                <a:gridCol w="1267968"/>
                <a:gridCol w="2817707"/>
              </a:tblGrid>
              <a:tr h="393700">
                <a:tc>
                  <a:txBody>
                    <a:bodyPr/>
                    <a:lstStyle/>
                    <a:p>
                      <a:pPr algn="l" rtl="1"/>
                      <a:r>
                        <a:rPr sz="750" lang="ar-OM">
                          <a:solidFill>
                            <a:srgbClr val="6B625E"/>
                          </a:solidFill>
                          <a:latin typeface="Tajawal"/>
                          <a:cs typeface="Tajawal"/>
                        </a:rPr>
                        <a:t>الملتزم به حتى الآن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750" lang="ar-OM">
                          <a:solidFill>
                            <a:srgbClr val="6B625E"/>
                          </a:solidFill>
                          <a:latin typeface="Tajawal"/>
                          <a:cs typeface="Tajawal"/>
                        </a:rPr>
                        <a:t>نسبة من التكلفة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750" lang="ar-OM">
                          <a:solidFill>
                            <a:srgbClr val="6B625E"/>
                          </a:solidFill>
                          <a:latin typeface="Tajawal"/>
                          <a:cs typeface="Tajawal"/>
                        </a:rPr>
                        <a:t>مليون ر.ع.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750" lang="ar-OM">
                          <a:solidFill>
                            <a:srgbClr val="6B625E"/>
                          </a:solidFill>
                          <a:latin typeface="Tajawal"/>
                          <a:cs typeface="Tajawal"/>
                        </a:rPr>
                        <a:t>بند الميزانية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15.8%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4.6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3B3436"/>
                          </a:solidFill>
                          <a:latin typeface="Tajawal"/>
                          <a:cs typeface="Tajawal"/>
                        </a:rPr>
                        <a:t>الأرض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46%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67.8%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19.8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3B3436"/>
                          </a:solidFill>
                          <a:latin typeface="Tajawal"/>
                          <a:cs typeface="Tajawal"/>
                        </a:rPr>
                        <a:t>الإنشاء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72%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6.5%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1.9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3B3436"/>
                          </a:solidFill>
                          <a:latin typeface="Tajawal"/>
                          <a:cs typeface="Tajawal"/>
                        </a:rPr>
                        <a:t>الأتعاب المهنية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38%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4.1%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1.2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3B3436"/>
                          </a:solidFill>
                          <a:latin typeface="Tajawal"/>
                          <a:cs typeface="Tajawal"/>
                        </a:rPr>
                        <a:t>التسويق والمبيعات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30%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5.8%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1.7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3B3436"/>
                          </a:solidFill>
                          <a:latin typeface="Tajawal"/>
                          <a:cs typeface="Tajawal"/>
                        </a:rPr>
                        <a:t>التمويل والاحتياطي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55%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100.0%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1"/>
                      <a:r>
                        <a:rPr sz="13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29.2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200" lang="ar-OM">
                          <a:solidFill>
                            <a:srgbClr val="140E10"/>
                          </a:solidFill>
                          <a:latin typeface="Tajawal"/>
                          <a:cs typeface="Tajawal"/>
                        </a:rPr>
                        <a:t>إجمالي تكلفة التطوير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85733" y="54610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الأرقام بملايين الريالات العُمانية ما لم يُذكر خلاف ذلك. التوقعات توضيحية وقابلة للتغيير.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762000" y="18415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762000" y="19812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القيمة الإجمالية للتطوير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1844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000" lang="ar-OM">
                <a:solidFill>
                  <a:srgbClr val="140E10"/>
                </a:solidFill>
                <a:latin typeface="Tajawal"/>
                <a:cs typeface="Tajawal"/>
              </a:rPr>
              <a:t>40.0 مليون ر.ع.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762000" y="26543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62000" y="27940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إجمالي الربح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9972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000" lang="ar-OM">
                <a:solidFill>
                  <a:srgbClr val="140E10"/>
                </a:solidFill>
                <a:latin typeface="Tajawal"/>
                <a:cs typeface="Tajawal"/>
              </a:rPr>
              <a:t>10.8 مليون ر.ع.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762000" y="34671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62000" y="36068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الهامش الإجمالي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38100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000" lang="ar-OM">
                <a:solidFill>
                  <a:srgbClr val="602733"/>
                </a:solidFill>
                <a:latin typeface="Tajawal"/>
                <a:cs typeface="Tajawal"/>
              </a:rPr>
              <a:t>27.0%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762000" y="42799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62000" y="44196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معدل العائد الداخلي للمشروع، دون رافعة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6228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000" lang="ar-OM">
                <a:solidFill>
                  <a:srgbClr val="140E10"/>
                </a:solidFill>
                <a:latin typeface="Tajawal"/>
                <a:cs typeface="Tajawal"/>
              </a:rPr>
              <a:t>19.6%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62000" y="50927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762000" y="52324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50" lang="ar-OM">
                <a:solidFill>
                  <a:srgbClr val="6B625E"/>
                </a:solidFill>
                <a:latin typeface="Tajawal"/>
                <a:cs typeface="Tajawal"/>
              </a:rPr>
              <a:t>المبيعات المتعاقد عليها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54356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2000" lang="ar-OM">
                <a:solidFill>
                  <a:srgbClr val="140E10"/>
                </a:solidFill>
                <a:latin typeface="Tajawal"/>
                <a:cs typeface="Tajawal"/>
              </a:rPr>
              <a:t>18.4 مليون ر.ع.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62000" y="59055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23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03 · الاستثمار</a:t>
            </a:r>
          </a:p>
        </p:txBody>
      </p:sp>
      <p:sp>
        <p:nvSpPr>
          <p:cNvPr id="24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6B625E"/>
                </a:solidFill>
                <a:latin typeface="Tajawal"/>
                <a:cs typeface="Tajawal"/>
              </a:rPr>
              <a:t>09</a:t>
            </a:r>
          </a:p>
        </p:txBody>
      </p:sp>
      <p:pic>
        <p:nvPicPr>
          <p:cNvPr id="25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umen halo"/>
          <p:cNvSpPr/>
          <p:nvPr/>
        </p:nvSpPr>
        <p:spPr>
          <a:xfrm>
            <a:off x="10433050" y="863600"/>
            <a:ext cx="1524000" cy="1524000"/>
          </a:xfrm>
          <a:prstGeom prst="ellipse">
            <a:avLst/>
          </a:prstGeom>
          <a:gradFill rotWithShape="1">
            <a:gsLst>
              <a:gs pos="0">
                <a:srgbClr val="D6C0B2">
                  <a:alpha val="55000"/>
                </a:srgbClr>
              </a:gs>
              <a:gs pos="100000">
                <a:srgbClr val="D6C0B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3" name="Lumen"/>
          <p:cNvSpPr/>
          <p:nvPr/>
        </p:nvSpPr>
        <p:spPr>
          <a:xfrm rot="2700000">
            <a:off x="11029950" y="1460500"/>
            <a:ext cx="330200" cy="3302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4" name="TextBox 3"/>
          <p:cNvSpPr txBox="1"/>
          <p:nvPr/>
        </p:nvSpPr>
        <p:spPr>
          <a:xfrm>
            <a:off x="3479800" y="2730500"/>
            <a:ext cx="79502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05000"/>
              </a:lnSpc>
            </a:pPr>
            <a:r>
              <a:rPr sz="3800" lang="ar-OM">
                <a:solidFill>
                  <a:srgbClr val="F7F2ED"/>
                </a:solidFill>
                <a:latin typeface="Tajawal"/>
                <a:cs typeface="Tajawal"/>
              </a:rPr>
              <a:t>نبني بتأنٍّ، ليعيش الساكنون بهدوء.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11125200" y="4521200"/>
            <a:ext cx="304800" cy="0"/>
          </a:xfrm>
          <a:prstGeom prst="line">
            <a:avLst/>
          </a:prstGeom>
          <a:ln w="9525">
            <a:solidFill>
              <a:srgbClr val="D6C0B2">
                <a:alpha val="60000"/>
              </a:srgbClr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4648200" y="4445000"/>
            <a:ext cx="635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الرئيس التنفيذي · سراج للتطوير العقاري</a:t>
            </a:r>
          </a:p>
        </p:txBody>
      </p:sp>
      <p:sp>
        <p:nvSpPr>
          <p:cNvPr id="7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</a:p>
        </p:txBody>
      </p:sp>
      <p:sp>
        <p:nvSpPr>
          <p:cNvPr id="8" name="Footer · section"/>
          <p:cNvSpPr txBox="1"/>
          <p:nvPr/>
        </p:nvSpPr>
        <p:spPr>
          <a:xfrm>
            <a:off x="6858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الختام</a:t>
            </a:r>
          </a:p>
        </p:txBody>
      </p:sp>
      <p:sp>
        <p:nvSpPr>
          <p:cNvPr id="9" name="Footer · page"/>
          <p:cNvSpPr txBox="1"/>
          <p:nvPr/>
        </p:nvSpPr>
        <p:spPr>
          <a:xfrm>
            <a:off x="15494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700" lang="ar-OM">
                <a:solidFill>
                  <a:srgbClr val="D6C0B2"/>
                </a:solidFill>
                <a:latin typeface="Tajawal"/>
                <a:cs typeface="Tajawal"/>
              </a:rPr>
              <a:t>10</a:t>
            </a:r>
          </a:p>
        </p:txBody>
      </p:sp>
      <p:pic>
        <p:nvPicPr>
          <p:cNvPr id="10" name="SIRAJ wordmark" descr="SIRAJ_Logo_Sand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ilk background" descr="SIRAJ_Silk_Gateway_16x9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500" y="2095500"/>
            <a:ext cx="2159000" cy="617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060700"/>
            <a:ext cx="12192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600" lang="ar-OM">
                <a:solidFill>
                  <a:srgbClr val="D6C0B2"/>
                </a:solidFill>
                <a:latin typeface="Tajawal"/>
                <a:cs typeface="Tajawal"/>
              </a:rPr>
              <a:t>نورٌ يُبنى.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98900"/>
            <a:ext cx="1219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800" lang="ar-OM">
                <a:solidFill>
                  <a:srgbClr val="D6C0B2"/>
                </a:solidFill>
                <a:latin typeface="Tajawal"/>
                <a:cs typeface="Tajawal"/>
              </a:rPr>
              <a:t>احجز زيارة خاصة لمركز مبيعات سراج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16400"/>
            <a:ext cx="1219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1100" lang="ar-OM">
                <a:solidFill>
                  <a:srgbClr val="E9DDD4"/>
                </a:solidFill>
                <a:latin typeface="Tajawal"/>
                <a:cs typeface="Tajawal"/>
              </a:rPr>
              <a:t>الخوير، مسقط   ◆   +968 2400 0000   ◆   info@SIRAJPROPERTIES.net   ◆   sirajproperties.net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299200"/>
            <a:ext cx="1219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rtl="1"/>
            <a:r>
              <a:rPr sz="750" lang="ar-OM">
                <a:solidFill>
                  <a:srgbClr val="D6C0B2"/>
                </a:solidFill>
                <a:latin typeface="Tajawal"/>
                <a:cs typeface="Tajawal"/>
              </a:rPr>
              <a:t>مساكن نور مشروع افتراضي لأغراض العرض. جميع الأرقام توضيحية ولا تشكّل عرضًا.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RAJ">
  <a:themeElements>
    <a:clrScheme name="SIRAJ">
      <a:dk1>
        <a:srgbClr val="140E10"/>
      </a:dk1>
      <a:lt1>
        <a:srgbClr val="F7F2ED"/>
      </a:lt1>
      <a:dk2>
        <a:srgbClr val="2C0F12"/>
      </a:dk2>
      <a:lt2>
        <a:srgbClr val="EFE7E0"/>
      </a:lt2>
      <a:accent1>
        <a:srgbClr val="602733"/>
      </a:accent1>
      <a:accent2>
        <a:srgbClr val="AA9180"/>
      </a:accent2>
      <a:accent3>
        <a:srgbClr val="3B3436"/>
      </a:accent3>
      <a:accent4>
        <a:srgbClr val="C79A9C"/>
      </a:accent4>
      <a:accent5>
        <a:srgbClr val="8E837D"/>
      </a:accent5>
      <a:accent6>
        <a:srgbClr val="2C0F12"/>
      </a:accent6>
      <a:hlink>
        <a:srgbClr val="602733"/>
      </a:hlink>
      <a:folHlink>
        <a:srgbClr val="81404C"/>
      </a:folHlink>
    </a:clrScheme>
    <a:fontScheme name="SIRAJ">
      <a:majorFont>
        <a:latin typeface="Jost Light"/>
        <a:ea typeface=""/>
        <a:cs typeface="Tajawal Light"/>
        <a:font script="Jpan" typeface="ＭＳ Ｐゴシック"/>
        <a:font script="Hang" typeface="맑은 고딕"/>
        <a:font script="Hans" typeface="宋体"/>
        <a:font script="Hant" typeface="新細明體"/>
        <a:font script="Arab" typeface="Tajawal Light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Jost"/>
        <a:ea typeface=""/>
        <a:cs typeface="Tajawal"/>
        <a:font script="Jpan" typeface="ＭＳ Ｐゴシック"/>
        <a:font script="Hang" typeface="맑은 고딕"/>
        <a:font script="Hans" typeface="宋体"/>
        <a:font script="Hant" typeface="新細明體"/>
        <a:font script="Arab" typeface="Tajaw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SIRAJ Presentation Template v1.0</dc:title>
  <dc:subject>Noor Residences — sample investor presentation (demonstration project)</dc:subject>
  <dc:creator>SIRAJ Real Estate Development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