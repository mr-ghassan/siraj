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8.jpg"/><Relationship Id="rId7" Type="http://schemas.openxmlformats.org/officeDocument/2006/relationships/image" Target="../media/image12.jpg"/><Relationship Id="rId8" Type="http://schemas.openxmlformats.org/officeDocument/2006/relationships/image" Target="../media/image4.png"/><Relationship Id="rId9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RAJ_Silk_Drape-Lumen_16x9_v1.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060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RAJ_Logo_Sand_v1.0_2048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2540000"/>
            <a:ext cx="3810000" cy="10901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4064000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sz="2000" b="0">
                <a:solidFill>
                  <a:srgbClr val="E9DDD4"/>
                </a:solidFill>
                <a:latin typeface="Tajawal"/>
                <a:cs typeface="Tajawal"/>
              </a:rPr>
              <a:t>سراج للتطوير العقاري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RAJ_Project-Siraj_Corner_Cloudy-Day_Clean_v1.0.jpg"/>
          <p:cNvPicPr>
            <a:picLocks noChangeAspect="1"/>
          </p:cNvPicPr>
          <p:nvPr/>
        </p:nvPicPr>
        <p:blipFill>
          <a:blip r:embed="rId2"/>
          <a:srcRect l="6322" r="6322"/>
          <a:stretch>
            <a:fillRect/>
          </a:stretch>
        </p:blipFill>
        <p:spPr>
          <a:xfrm>
            <a:off x="0" y="0"/>
            <a:ext cx="4826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61000" y="952500"/>
            <a:ext cx="596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200" b="0">
                <a:solidFill>
                  <a:srgbClr val="602733"/>
                </a:solidFill>
                <a:latin typeface="Tajawal Medium"/>
                <a:cs typeface="Tajawal Medium"/>
              </a:rPr>
              <a:t>من نحن</a:t>
            </a:r>
          </a:p>
        </p:txBody>
      </p:sp>
      <p:sp>
        <p:nvSpPr>
          <p:cNvPr id="4" name="Diamond 3"/>
          <p:cNvSpPr/>
          <p:nvPr/>
        </p:nvSpPr>
        <p:spPr>
          <a:xfrm>
            <a:off x="11518900" y="1028700"/>
            <a:ext cx="69850" cy="69850"/>
          </a:xfrm>
          <a:prstGeom prst="diamond">
            <a:avLst/>
          </a:prstGeom>
          <a:solidFill>
            <a:srgbClr val="AA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61000" y="1460500"/>
            <a:ext cx="5969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6000"/>
              </a:lnSpc>
            </a:pPr>
            <a:r>
              <a:rPr sz="4200" b="0">
                <a:solidFill>
                  <a:srgbClr val="2C0F12"/>
                </a:solidFill>
                <a:latin typeface="Tajawal ExtraLight"/>
                <a:cs typeface="Tajawal ExtraLight"/>
              </a:rPr>
              <a:t>نطوّر مشاريع عقارية</a:t>
            </a:r>
          </a:p>
          <a:p>
            <a:pPr algn="r" rtl="1">
              <a:lnSpc>
                <a:spcPct val="136000"/>
              </a:lnSpc>
            </a:pPr>
            <a:r>
              <a:rPr sz="4200" b="0">
                <a:solidFill>
                  <a:srgbClr val="2C0F12"/>
                </a:solidFill>
                <a:latin typeface="Tajawal ExtraBold"/>
                <a:cs typeface="Tajawal ExtraBold"/>
              </a:rPr>
              <a:t>مدروسة في مسقط.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0" y="3302000"/>
            <a:ext cx="5969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5000"/>
              </a:lnSpc>
            </a:pPr>
            <a:r>
              <a:rPr sz="1700" b="0">
                <a:solidFill>
                  <a:srgbClr val="3B3436"/>
                </a:solidFill>
                <a:latin typeface="Tajawal"/>
                <a:cs typeface="Tajawal"/>
              </a:rPr>
              <a:t>نختار المكان بعناية، ونصمّم بالضوء والمادة والتفاصيل، ونبني ما يبقى.</a:t>
            </a:r>
          </a:p>
        </p:txBody>
      </p:sp>
      <p:pic>
        <p:nvPicPr>
          <p:cNvPr id="7" name="Picture 6" descr="SIRAJ_Logo_Primary_v1.0_2048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0" y="5684837"/>
            <a:ext cx="1333500" cy="3815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579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ct val="150000"/>
              </a:lnSpc>
            </a:pPr>
            <a:r>
              <a:rPr sz="1100" b="0">
                <a:solidFill>
                  <a:srgbClr val="6B625E"/>
                </a:solidFill>
                <a:latin typeface="Jost"/>
                <a:cs typeface="Jost"/>
              </a:rPr>
              <a:t>7771 4404   ·   </a:t>
            </a:r>
          </a:p>
        </p:txBody>
      </p:sp>
      <p:pic>
        <p:nvPicPr>
          <p:cNvPr id="9" name="Picture 8" descr="ig_a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8532" y="6150102"/>
            <a:ext cx="128524" cy="1285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32936" y="6057900"/>
            <a:ext cx="1406128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ct val="150000"/>
              </a:lnSpc>
            </a:pPr>
            <a:r>
              <a:rPr sz="1100" b="0">
                <a:solidFill>
                  <a:srgbClr val="6B625E"/>
                </a:solidFill>
                <a:latin typeface="Jost"/>
                <a:cs typeface="Jost"/>
              </a:rPr>
              <a:t>SIRAJPROPERTIES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RAJ_Silk_Drape-Deep_16x9_v1.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060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905000"/>
            <a:ext cx="1066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200" b="0">
                <a:solidFill>
                  <a:srgbClr val="D6C0B2"/>
                </a:solidFill>
                <a:latin typeface="Tajawal Medium"/>
                <a:cs typeface="Tajawal Medium"/>
              </a:rPr>
              <a:t>معنى الاسم</a:t>
            </a:r>
          </a:p>
        </p:txBody>
      </p:sp>
      <p:sp>
        <p:nvSpPr>
          <p:cNvPr id="5" name="Diamond 4"/>
          <p:cNvSpPr/>
          <p:nvPr/>
        </p:nvSpPr>
        <p:spPr>
          <a:xfrm>
            <a:off x="11518900" y="1981200"/>
            <a:ext cx="69850" cy="69850"/>
          </a:xfrm>
          <a:prstGeom prst="diamond">
            <a:avLst/>
          </a:prstGeom>
          <a:solidFill>
            <a:srgbClr val="AA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413000"/>
            <a:ext cx="10668000" cy="20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2000"/>
              </a:lnSpc>
            </a:pPr>
            <a:r>
              <a:rPr sz="6000" b="0">
                <a:solidFill>
                  <a:srgbClr val="F7F2ED"/>
                </a:solidFill>
                <a:latin typeface="Tajawal ExtraBold"/>
                <a:cs typeface="Tajawal ExtraBold"/>
              </a:rPr>
              <a:t>سِراج</a:t>
            </a:r>
          </a:p>
          <a:p>
            <a:pPr algn="r" rtl="1">
              <a:lnSpc>
                <a:spcPct val="132000"/>
              </a:lnSpc>
            </a:pPr>
            <a:r>
              <a:rPr sz="6000" b="0">
                <a:solidFill>
                  <a:srgbClr val="F7F2ED"/>
                </a:solidFill>
                <a:latin typeface="Tajawal ExtraLight"/>
                <a:cs typeface="Tajawal ExtraLight"/>
              </a:rPr>
              <a:t>المصباح المضيء.</a:t>
            </a:r>
          </a:p>
        </p:txBody>
      </p:sp>
      <p:pic>
        <p:nvPicPr>
          <p:cNvPr id="7" name="Picture 6" descr="SIRAJ_Logo_Sand_v1.0_2048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0" y="5684837"/>
            <a:ext cx="1333500" cy="3815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579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ct val="150000"/>
              </a:lnSpc>
            </a:pPr>
            <a:r>
              <a:rPr sz="1100" b="0">
                <a:solidFill>
                  <a:srgbClr val="D6C0B2"/>
                </a:solidFill>
                <a:latin typeface="Jost"/>
                <a:cs typeface="Jost"/>
              </a:rPr>
              <a:t>7771 4404   ·   </a:t>
            </a:r>
          </a:p>
        </p:txBody>
      </p:sp>
      <p:pic>
        <p:nvPicPr>
          <p:cNvPr id="9" name="Picture 8" descr="ig_s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8532" y="6150102"/>
            <a:ext cx="128524" cy="1285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32936" y="6057900"/>
            <a:ext cx="1406128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ct val="150000"/>
              </a:lnSpc>
            </a:pPr>
            <a:r>
              <a:rPr sz="1100" b="0">
                <a:solidFill>
                  <a:srgbClr val="D6C0B2"/>
                </a:solidFill>
                <a:latin typeface="Jost"/>
                <a:cs typeface="Jost"/>
              </a:rPr>
              <a:t>SIRAJPROPERTIES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066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200" b="0">
                <a:solidFill>
                  <a:srgbClr val="602733"/>
                </a:solidFill>
                <a:latin typeface="Tajawal Medium"/>
                <a:cs typeface="Tajawal Medium"/>
              </a:rPr>
              <a:t>ما نؤمن به</a:t>
            </a:r>
          </a:p>
        </p:txBody>
      </p:sp>
      <p:sp>
        <p:nvSpPr>
          <p:cNvPr id="3" name="Diamond 2"/>
          <p:cNvSpPr/>
          <p:nvPr/>
        </p:nvSpPr>
        <p:spPr>
          <a:xfrm>
            <a:off x="11518900" y="838200"/>
            <a:ext cx="69850" cy="69850"/>
          </a:xfrm>
          <a:prstGeom prst="diamond">
            <a:avLst/>
          </a:prstGeom>
          <a:solidFill>
            <a:srgbClr val="AA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1905000"/>
            <a:ext cx="317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6000"/>
              </a:lnSpc>
            </a:pPr>
            <a:r>
              <a:rPr sz="3200" b="0">
                <a:solidFill>
                  <a:srgbClr val="602733"/>
                </a:solidFill>
                <a:latin typeface="Tajawal ExtraBold"/>
                <a:cs typeface="Tajawal ExtraBold"/>
              </a:rPr>
              <a:t>الضوء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0" y="2730500"/>
            <a:ext cx="3175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5000"/>
              </a:lnSpc>
            </a:pPr>
            <a:r>
              <a:rPr sz="1600" b="0">
                <a:solidFill>
                  <a:srgbClr val="3B3436"/>
                </a:solidFill>
                <a:latin typeface="Tajawal"/>
                <a:cs typeface="Tajawal"/>
              </a:rPr>
              <a:t>الضوء جزءٌ من العمارة، لا زينةٌ تُضاف إليها.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0" y="1905000"/>
            <a:ext cx="317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6000"/>
              </a:lnSpc>
            </a:pPr>
            <a:r>
              <a:rPr sz="3200" b="0">
                <a:solidFill>
                  <a:srgbClr val="602733"/>
                </a:solidFill>
                <a:latin typeface="Tajawal ExtraBold"/>
                <a:cs typeface="Tajawal ExtraBold"/>
              </a:rPr>
              <a:t>المادة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0" y="2730500"/>
            <a:ext cx="3175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5000"/>
              </a:lnSpc>
            </a:pPr>
            <a:r>
              <a:rPr sz="1600" b="0">
                <a:solidFill>
                  <a:srgbClr val="3B3436"/>
                </a:solidFill>
                <a:latin typeface="Tajawal"/>
                <a:cs typeface="Tajawal"/>
              </a:rPr>
              <a:t>موادٌ صادقة، تبقى جميلةً مع الزمن.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1905000"/>
            <a:ext cx="317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6000"/>
              </a:lnSpc>
            </a:pPr>
            <a:r>
              <a:rPr sz="3200" b="0">
                <a:solidFill>
                  <a:srgbClr val="602733"/>
                </a:solidFill>
                <a:latin typeface="Tajawal ExtraBold"/>
                <a:cs typeface="Tajawal ExtraBold"/>
              </a:rPr>
              <a:t>التفاصيل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2730500"/>
            <a:ext cx="3175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5000"/>
              </a:lnSpc>
            </a:pPr>
            <a:r>
              <a:rPr sz="1600" b="0">
                <a:solidFill>
                  <a:srgbClr val="3B3436"/>
                </a:solidFill>
                <a:latin typeface="Tajawal"/>
                <a:cs typeface="Tajawal"/>
              </a:rPr>
              <a:t>مدروسة في كل تفاصيلها، من الواجهة إلى المقبض.</a:t>
            </a:r>
          </a:p>
        </p:txBody>
      </p:sp>
      <p:pic>
        <p:nvPicPr>
          <p:cNvPr id="10" name="Picture 9" descr="SIRAJ_Logo_Primary_v1.0_2048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0" y="5684837"/>
            <a:ext cx="1333500" cy="3815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60579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ct val="150000"/>
              </a:lnSpc>
            </a:pPr>
            <a:r>
              <a:rPr sz="1100" b="0">
                <a:solidFill>
                  <a:srgbClr val="6B625E"/>
                </a:solidFill>
                <a:latin typeface="Jost"/>
                <a:cs typeface="Jost"/>
              </a:rPr>
              <a:t>7771 4404   ·   </a:t>
            </a:r>
          </a:p>
        </p:txBody>
      </p:sp>
      <p:pic>
        <p:nvPicPr>
          <p:cNvPr id="12" name="Picture 11" descr="ig_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532" y="6150102"/>
            <a:ext cx="128524" cy="1285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32936" y="6057900"/>
            <a:ext cx="1406128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ct val="150000"/>
              </a:lnSpc>
            </a:pPr>
            <a:r>
              <a:rPr sz="1100" b="0">
                <a:solidFill>
                  <a:srgbClr val="6B625E"/>
                </a:solidFill>
                <a:latin typeface="Jost"/>
                <a:cs typeface="Jost"/>
              </a:rPr>
              <a:t>SIRAJPROPERTIES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0F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RAJ_Project-Siraj_Front_Blue-Hour_Clean_v1.0.jpg"/>
          <p:cNvPicPr>
            <a:picLocks noChangeAspect="1"/>
          </p:cNvPicPr>
          <p:nvPr/>
        </p:nvPicPr>
        <p:blipFill>
          <a:blip r:embed="rId2"/>
          <a:srcRect l="2874" r="2874"/>
          <a:stretch>
            <a:fillRect/>
          </a:stretch>
        </p:blipFill>
        <p:spPr>
          <a:xfrm>
            <a:off x="6985000" y="0"/>
            <a:ext cx="5207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0160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200" b="0">
                <a:solidFill>
                  <a:srgbClr val="D6C0B2"/>
                </a:solidFill>
                <a:latin typeface="Tajawal Medium"/>
                <a:cs typeface="Tajawal Medium"/>
              </a:rPr>
              <a:t>المشروع</a:t>
            </a:r>
          </a:p>
        </p:txBody>
      </p:sp>
      <p:sp>
        <p:nvSpPr>
          <p:cNvPr id="4" name="Diamond 3"/>
          <p:cNvSpPr/>
          <p:nvPr/>
        </p:nvSpPr>
        <p:spPr>
          <a:xfrm>
            <a:off x="6565900" y="1092200"/>
            <a:ext cx="69850" cy="69850"/>
          </a:xfrm>
          <a:prstGeom prst="diamond">
            <a:avLst/>
          </a:prstGeom>
          <a:solidFill>
            <a:srgbClr val="AA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587500"/>
            <a:ext cx="5715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6000"/>
              </a:lnSpc>
            </a:pPr>
            <a:r>
              <a:rPr sz="6000" b="0">
                <a:solidFill>
                  <a:srgbClr val="F7F2ED"/>
                </a:solidFill>
                <a:latin typeface="Tajawal ExtraBold"/>
                <a:cs typeface="Tajawal ExtraBold"/>
              </a:rPr>
              <a:t>مسقط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984500"/>
            <a:ext cx="571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400" b="0">
                <a:solidFill>
                  <a:srgbClr val="E9DDD4"/>
                </a:solidFill>
                <a:latin typeface="Tajawal Light"/>
                <a:cs typeface="Tajawal Light"/>
              </a:rPr>
              <a:t>شقق سكنية ومحلات تجارية.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0579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ct val="150000"/>
              </a:lnSpc>
            </a:pPr>
            <a:r>
              <a:rPr sz="1100" b="0">
                <a:solidFill>
                  <a:srgbClr val="D6C0B2"/>
                </a:solidFill>
                <a:latin typeface="Jost"/>
                <a:cs typeface="Jost"/>
              </a:rPr>
              <a:t>7771 4404   ·   </a:t>
            </a:r>
          </a:p>
        </p:txBody>
      </p:sp>
      <p:pic>
        <p:nvPicPr>
          <p:cNvPr id="8" name="Picture 7" descr="ig_s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532" y="6150102"/>
            <a:ext cx="128524" cy="1285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32936" y="6057900"/>
            <a:ext cx="1406128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ct val="150000"/>
              </a:lnSpc>
            </a:pPr>
            <a:r>
              <a:rPr sz="1100" b="0">
                <a:solidFill>
                  <a:srgbClr val="D6C0B2"/>
                </a:solidFill>
                <a:latin typeface="Jost"/>
                <a:cs typeface="Jost"/>
              </a:rPr>
              <a:t>SIRAJPROPERTIES</a:t>
            </a:r>
          </a:p>
        </p:txBody>
      </p:sp>
      <p:pic>
        <p:nvPicPr>
          <p:cNvPr id="10" name="Picture 9" descr="SIRAJ_Logo_Sand_v1.0_2048p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359400"/>
            <a:ext cx="1333500" cy="3815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200" b="0">
                <a:solidFill>
                  <a:srgbClr val="602733"/>
                </a:solidFill>
                <a:latin typeface="Tajawal Medium"/>
                <a:cs typeface="Tajawal Medium"/>
              </a:rPr>
              <a:t>تصوّرات المشروع</a:t>
            </a:r>
          </a:p>
        </p:txBody>
      </p:sp>
      <p:sp>
        <p:nvSpPr>
          <p:cNvPr id="3" name="Diamond 2"/>
          <p:cNvSpPr/>
          <p:nvPr/>
        </p:nvSpPr>
        <p:spPr>
          <a:xfrm>
            <a:off x="11518900" y="647700"/>
            <a:ext cx="69850" cy="69850"/>
          </a:xfrm>
          <a:prstGeom prst="diamond">
            <a:avLst/>
          </a:prstGeom>
          <a:solidFill>
            <a:srgbClr val="AA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RAJ_Project-Siraj_Corner_Cloudy-Day_Clean_v1.0.jpg"/>
          <p:cNvPicPr>
            <a:picLocks noChangeAspect="1"/>
          </p:cNvPicPr>
          <p:nvPr/>
        </p:nvPicPr>
        <p:blipFill>
          <a:blip r:embed="rId2"/>
          <a:srcRect l="26236" r="26236"/>
          <a:stretch>
            <a:fillRect/>
          </a:stretch>
        </p:blipFill>
        <p:spPr>
          <a:xfrm>
            <a:off x="9728200" y="1079500"/>
            <a:ext cx="1701800" cy="4445000"/>
          </a:xfrm>
          <a:prstGeom prst="rect">
            <a:avLst/>
          </a:prstGeom>
        </p:spPr>
      </p:pic>
      <p:pic>
        <p:nvPicPr>
          <p:cNvPr id="5" name="Picture 4" descr="SIRAJ_Project-Siraj_Front_Cloudy-Day_Clean_v1.0.jpg"/>
          <p:cNvPicPr>
            <a:picLocks noChangeAspect="1"/>
          </p:cNvPicPr>
          <p:nvPr/>
        </p:nvPicPr>
        <p:blipFill>
          <a:blip r:embed="rId3"/>
          <a:srcRect l="26236" r="26236"/>
          <a:stretch>
            <a:fillRect/>
          </a:stretch>
        </p:blipFill>
        <p:spPr>
          <a:xfrm>
            <a:off x="7950200" y="1079500"/>
            <a:ext cx="1701800" cy="4445000"/>
          </a:xfrm>
          <a:prstGeom prst="rect">
            <a:avLst/>
          </a:prstGeom>
        </p:spPr>
      </p:pic>
      <p:pic>
        <p:nvPicPr>
          <p:cNvPr id="6" name="Picture 5" descr="SIRAJ_Project-Siraj_Side_Cloudy-Day_Clean_v1.0.jpg"/>
          <p:cNvPicPr>
            <a:picLocks noChangeAspect="1"/>
          </p:cNvPicPr>
          <p:nvPr/>
        </p:nvPicPr>
        <p:blipFill>
          <a:blip r:embed="rId4"/>
          <a:srcRect l="26236" r="26236"/>
          <a:stretch>
            <a:fillRect/>
          </a:stretch>
        </p:blipFill>
        <p:spPr>
          <a:xfrm>
            <a:off x="6172200" y="1079500"/>
            <a:ext cx="1701800" cy="4445000"/>
          </a:xfrm>
          <a:prstGeom prst="rect">
            <a:avLst/>
          </a:prstGeom>
        </p:spPr>
      </p:pic>
      <p:pic>
        <p:nvPicPr>
          <p:cNvPr id="7" name="Picture 6" descr="SIRAJ_Project-Siraj_Corner_Blue-Hour_Clean_v1.0.jpg"/>
          <p:cNvPicPr>
            <a:picLocks noChangeAspect="1"/>
          </p:cNvPicPr>
          <p:nvPr/>
        </p:nvPicPr>
        <p:blipFill>
          <a:blip r:embed="rId5"/>
          <a:srcRect l="26236" r="26236"/>
          <a:stretch>
            <a:fillRect/>
          </a:stretch>
        </p:blipFill>
        <p:spPr>
          <a:xfrm>
            <a:off x="4394200" y="1079500"/>
            <a:ext cx="1701800" cy="4445000"/>
          </a:xfrm>
          <a:prstGeom prst="rect">
            <a:avLst/>
          </a:prstGeom>
        </p:spPr>
      </p:pic>
      <p:pic>
        <p:nvPicPr>
          <p:cNvPr id="8" name="Picture 7" descr="SIRAJ_Project-Siraj_Front_Blue-Hour_Clean_v1.0.jpg"/>
          <p:cNvPicPr>
            <a:picLocks noChangeAspect="1"/>
          </p:cNvPicPr>
          <p:nvPr/>
        </p:nvPicPr>
        <p:blipFill>
          <a:blip r:embed="rId6"/>
          <a:srcRect l="26236" r="26236"/>
          <a:stretch>
            <a:fillRect/>
          </a:stretch>
        </p:blipFill>
        <p:spPr>
          <a:xfrm>
            <a:off x="2616200" y="1079500"/>
            <a:ext cx="1701800" cy="4445000"/>
          </a:xfrm>
          <a:prstGeom prst="rect">
            <a:avLst/>
          </a:prstGeom>
        </p:spPr>
      </p:pic>
      <p:pic>
        <p:nvPicPr>
          <p:cNvPr id="9" name="Picture 8" descr="SIRAJ_Project-Siraj_Side_Blue-Hour_Clean_v1.0.jpg"/>
          <p:cNvPicPr>
            <a:picLocks noChangeAspect="1"/>
          </p:cNvPicPr>
          <p:nvPr/>
        </p:nvPicPr>
        <p:blipFill>
          <a:blip r:embed="rId7"/>
          <a:srcRect l="26236" r="26236"/>
          <a:stretch>
            <a:fillRect/>
          </a:stretch>
        </p:blipFill>
        <p:spPr>
          <a:xfrm>
            <a:off x="838200" y="1079500"/>
            <a:ext cx="1701800" cy="4445000"/>
          </a:xfrm>
          <a:prstGeom prst="rect">
            <a:avLst/>
          </a:prstGeom>
        </p:spPr>
      </p:pic>
      <p:pic>
        <p:nvPicPr>
          <p:cNvPr id="10" name="Picture 9" descr="SIRAJ_Logo_Primary_v1.0_2048p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500" y="5684837"/>
            <a:ext cx="1333500" cy="3815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60579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ct val="150000"/>
              </a:lnSpc>
            </a:pPr>
            <a:r>
              <a:rPr sz="1100" b="0">
                <a:solidFill>
                  <a:srgbClr val="6B625E"/>
                </a:solidFill>
                <a:latin typeface="Jost"/>
                <a:cs typeface="Jost"/>
              </a:rPr>
              <a:t>7771 4404   ·   </a:t>
            </a:r>
          </a:p>
        </p:txBody>
      </p:sp>
      <p:pic>
        <p:nvPicPr>
          <p:cNvPr id="12" name="Picture 11" descr="ig_as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8532" y="6150102"/>
            <a:ext cx="128524" cy="1285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32936" y="6057900"/>
            <a:ext cx="1406128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ct val="150000"/>
              </a:lnSpc>
            </a:pPr>
            <a:r>
              <a:rPr sz="1100" b="0">
                <a:solidFill>
                  <a:srgbClr val="6B625E"/>
                </a:solidFill>
                <a:latin typeface="Jost"/>
                <a:cs typeface="Jost"/>
              </a:rPr>
              <a:t>SIRAJPROPERTIES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6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RAJ_Project-Siraj_KV_Lantern_4x5_v1.0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095500"/>
            <a:ext cx="54610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6000"/>
              </a:lnSpc>
            </a:pPr>
            <a:r>
              <a:rPr sz="4600" b="0">
                <a:solidFill>
                  <a:srgbClr val="F7F2ED"/>
                </a:solidFill>
                <a:latin typeface="Tajawal ExtraLight"/>
                <a:cs typeface="Tajawal ExtraLight"/>
              </a:rPr>
              <a:t>في قلب المدينة،</a:t>
            </a:r>
          </a:p>
          <a:p>
            <a:pPr algn="r" rtl="1">
              <a:lnSpc>
                <a:spcPct val="136000"/>
              </a:lnSpc>
            </a:pPr>
            <a:r>
              <a:rPr sz="4600" b="0">
                <a:solidFill>
                  <a:srgbClr val="F7F2ED"/>
                </a:solidFill>
                <a:latin typeface="Tajawal ExtraBold"/>
                <a:cs typeface="Tajawal ExtraBold"/>
              </a:rPr>
              <a:t>بيتٌ من ضوء.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0579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ct val="150000"/>
              </a:lnSpc>
            </a:pPr>
            <a:r>
              <a:rPr sz="1100" b="0">
                <a:solidFill>
                  <a:srgbClr val="D6C0B2"/>
                </a:solidFill>
                <a:latin typeface="Jost"/>
                <a:cs typeface="Jost"/>
              </a:rPr>
              <a:t>7771 4404   ·   </a:t>
            </a:r>
          </a:p>
        </p:txBody>
      </p:sp>
      <p:pic>
        <p:nvPicPr>
          <p:cNvPr id="5" name="Picture 4" descr="ig_s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532" y="6150102"/>
            <a:ext cx="128524" cy="1285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32936" y="6057900"/>
            <a:ext cx="1406128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ct val="150000"/>
              </a:lnSpc>
            </a:pPr>
            <a:r>
              <a:rPr sz="1100" b="0">
                <a:solidFill>
                  <a:srgbClr val="D6C0B2"/>
                </a:solidFill>
                <a:latin typeface="Jost"/>
                <a:cs typeface="Jost"/>
              </a:rPr>
              <a:t>SIRAJPROPERTIES</a:t>
            </a:r>
          </a:p>
        </p:txBody>
      </p:sp>
      <p:pic>
        <p:nvPicPr>
          <p:cNvPr id="7" name="Picture 6" descr="SIRAJ_Logo_Sand_v1.0_2048p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359400"/>
            <a:ext cx="1333500" cy="3815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6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RAJ_Project-Siraj_KV_Ribbon_4x5_v1.0.jpg"/>
          <p:cNvPicPr>
            <a:picLocks noChangeAspect="1"/>
          </p:cNvPicPr>
          <p:nvPr/>
        </p:nvPicPr>
        <p:blipFill>
          <a:blip r:embed="rId2"/>
          <a:srcRect l="345" r="345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095500"/>
            <a:ext cx="54610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6000"/>
              </a:lnSpc>
            </a:pPr>
            <a:r>
              <a:rPr sz="4600" b="0">
                <a:solidFill>
                  <a:srgbClr val="F7F2ED"/>
                </a:solidFill>
                <a:latin typeface="Tajawal ExtraLight"/>
                <a:cs typeface="Tajawal ExtraLight"/>
              </a:rPr>
              <a:t>حين يحلّ المساء،</a:t>
            </a:r>
          </a:p>
          <a:p>
            <a:pPr algn="r" rtl="1">
              <a:lnSpc>
                <a:spcPct val="136000"/>
              </a:lnSpc>
            </a:pPr>
            <a:r>
              <a:rPr sz="4600" b="0">
                <a:solidFill>
                  <a:srgbClr val="F7F2ED"/>
                </a:solidFill>
                <a:latin typeface="Tajawal ExtraBold"/>
                <a:cs typeface="Tajawal ExtraBold"/>
              </a:rPr>
              <a:t>يُضيء سراج.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0579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ct val="150000"/>
              </a:lnSpc>
            </a:pPr>
            <a:r>
              <a:rPr sz="1100" b="0">
                <a:solidFill>
                  <a:srgbClr val="D6C0B2"/>
                </a:solidFill>
                <a:latin typeface="Jost"/>
                <a:cs typeface="Jost"/>
              </a:rPr>
              <a:t>7771 4404   ·   </a:t>
            </a:r>
          </a:p>
        </p:txBody>
      </p:sp>
      <p:pic>
        <p:nvPicPr>
          <p:cNvPr id="5" name="Picture 4" descr="ig_s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532" y="6150102"/>
            <a:ext cx="128524" cy="1285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32936" y="6057900"/>
            <a:ext cx="1406128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ct val="150000"/>
              </a:lnSpc>
            </a:pPr>
            <a:r>
              <a:rPr sz="1100" b="0">
                <a:solidFill>
                  <a:srgbClr val="D6C0B2"/>
                </a:solidFill>
                <a:latin typeface="Jost"/>
                <a:cs typeface="Jost"/>
              </a:rPr>
              <a:t>SIRAJPROPERTIES</a:t>
            </a:r>
          </a:p>
        </p:txBody>
      </p:sp>
      <p:pic>
        <p:nvPicPr>
          <p:cNvPr id="7" name="Picture 6" descr="SIRAJ_Logo_Sand_v1.0_2048p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359400"/>
            <a:ext cx="1333500" cy="3815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6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RAJ_Project-Siraj_KV_Detail_4x5_v1.0.jpg"/>
          <p:cNvPicPr>
            <a:picLocks noChangeAspect="1"/>
          </p:cNvPicPr>
          <p:nvPr/>
        </p:nvPicPr>
        <p:blipFill>
          <a:blip r:embed="rId2"/>
          <a:srcRect l="345" r="345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095500"/>
            <a:ext cx="54610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6000"/>
              </a:lnSpc>
            </a:pPr>
            <a:r>
              <a:rPr sz="4600" b="0">
                <a:solidFill>
                  <a:srgbClr val="F7F2ED"/>
                </a:solidFill>
                <a:latin typeface="Tajawal ExtraBold"/>
                <a:cs typeface="Tajawal ExtraBold"/>
              </a:rPr>
              <a:t>مدروسة</a:t>
            </a:r>
          </a:p>
          <a:p>
            <a:pPr algn="r" rtl="1">
              <a:lnSpc>
                <a:spcPct val="136000"/>
              </a:lnSpc>
            </a:pPr>
            <a:r>
              <a:rPr sz="4600" b="0">
                <a:solidFill>
                  <a:srgbClr val="F7F2ED"/>
                </a:solidFill>
                <a:latin typeface="Tajawal ExtraLight"/>
                <a:cs typeface="Tajawal ExtraLight"/>
              </a:rPr>
              <a:t>في كل تفاصيلها.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0579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ct val="150000"/>
              </a:lnSpc>
            </a:pPr>
            <a:r>
              <a:rPr sz="1100" b="0">
                <a:solidFill>
                  <a:srgbClr val="D6C0B2"/>
                </a:solidFill>
                <a:latin typeface="Jost"/>
                <a:cs typeface="Jost"/>
              </a:rPr>
              <a:t>7771 4404   ·   </a:t>
            </a:r>
          </a:p>
        </p:txBody>
      </p:sp>
      <p:pic>
        <p:nvPicPr>
          <p:cNvPr id="5" name="Picture 4" descr="ig_s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532" y="6150102"/>
            <a:ext cx="128524" cy="1285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32936" y="6057900"/>
            <a:ext cx="1406128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ct val="150000"/>
              </a:lnSpc>
            </a:pPr>
            <a:r>
              <a:rPr sz="1100" b="0">
                <a:solidFill>
                  <a:srgbClr val="D6C0B2"/>
                </a:solidFill>
                <a:latin typeface="Jost"/>
                <a:cs typeface="Jost"/>
              </a:rPr>
              <a:t>SIRAJPROPERTIES</a:t>
            </a:r>
          </a:p>
        </p:txBody>
      </p:sp>
      <p:pic>
        <p:nvPicPr>
          <p:cNvPr id="7" name="Picture 6" descr="SIRAJ_Logo_Sand_v1.0_2048p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359400"/>
            <a:ext cx="1333500" cy="3815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RAJ_Silk_Drape-Deep_16x9_v1.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060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RAJ_Logo_Sand_v1.0_2048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86000"/>
            <a:ext cx="3048000" cy="8721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3873500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ct val="150000"/>
              </a:lnSpc>
            </a:pPr>
            <a:r>
              <a:rPr sz="2200" b="0">
                <a:solidFill>
                  <a:srgbClr val="F7F2ED"/>
                </a:solidFill>
                <a:latin typeface="Jost"/>
                <a:cs typeface="Jost"/>
              </a:rPr>
              <a:t>7771 4404</a:t>
            </a:r>
          </a:p>
        </p:txBody>
      </p:sp>
      <p:pic>
        <p:nvPicPr>
          <p:cNvPr id="6" name="Picture 5" descr="ig_s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580" y="4460494"/>
            <a:ext cx="198628" cy="1986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3568" y="4318000"/>
            <a:ext cx="1923851" cy="345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ct val="150000"/>
              </a:lnSpc>
            </a:pPr>
            <a:r>
              <a:rPr sz="1700" b="0">
                <a:solidFill>
                  <a:srgbClr val="D6C0B2"/>
                </a:solidFill>
                <a:latin typeface="Jost"/>
                <a:cs typeface="Jost"/>
              </a:rPr>
              <a:t>SIRAJPROPERTIES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724400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ct val="150000"/>
              </a:lnSpc>
            </a:pPr>
            <a:r>
              <a:rPr sz="1400" b="0">
                <a:solidFill>
                  <a:srgbClr val="D6C0B2"/>
                </a:solidFill>
                <a:latin typeface="Jost"/>
                <a:cs typeface="Jost"/>
              </a:rPr>
              <a:t>WWW.SIRAJPROPERTIES.NET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