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Residences sold</c:v>
                </c:pt>
              </c:strCache>
            </c:strRef>
          </c:tx>
          <c:spPr>
            <a:solidFill>
              <a:srgbClr val="AA9180"/>
            </a:solidFill>
          </c:spPr>
          <c:dPt>
            <c:idx val="0"/>
            <c:spPr>
              <a:solidFill>
                <a:srgbClr val="602733"/>
              </a:solidFill>
            </c:spPr>
          </c:dPt>
          <c:cat>
            <c:strRef>
              <c:f>Sheet1!$A$2:$A$8</c:f>
              <c:strCache>
                <c:ptCount val="7"/>
                <c:pt idx="0">
                  <c:v>Mar</c:v>
                </c:pt>
                <c:pt idx="1">
                  <c:v>Apr</c:v>
                </c:pt>
                <c:pt idx="2">
                  <c:v>May</c:v>
                </c:pt>
                <c:pt idx="3">
                  <c:v>Jun</c:v>
                </c:pt>
                <c:pt idx="4">
                  <c:v>Jul</c:v>
                </c:pt>
                <c:pt idx="5">
                  <c:v>Aug</c:v>
                </c:pt>
                <c:pt idx="6">
                  <c:v>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12</c:v>
                </c:pt>
                <c:pt idx="2">
                  <c:v>9</c:v>
                </c:pt>
                <c:pt idx="3">
                  <c:v>11</c:v>
                </c:pt>
                <c:pt idx="4">
                  <c:v>10</c:v>
                </c:pt>
                <c:pt idx="5">
                  <c:v>12</c:v>
                </c:pt>
                <c:pt idx="6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3B3436"/>
                  </a:solidFill>
                  <a:latin typeface="Jost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-2068027336"/>
        <c:crosses val="autoZero"/>
        <c:majorUnit val="5.0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6"/>
          <c:w val="0.66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 Khuwair new-build</c:v>
                </c:pt>
              </c:strCache>
            </c:strRef>
          </c:tx>
          <c:spPr>
            <a:ln w="28575">
              <a:solidFill>
                <a:srgbClr val="602733"/>
              </a:solidFill>
            </a:ln>
          </c:spPr>
          <c:marker>
            <c:symbol val="circle"/>
            <c:size val="7"/>
            <c:spPr>
              <a:solidFill>
                <a:srgbClr val="F7F2ED"/>
              </a:solidFill>
              <a:ln>
                <a:solidFill>
                  <a:srgbClr val="602733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1,560 Al Khuwair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1180</c:v>
                </c:pt>
                <c:pt idx="1">
                  <c:v>1230</c:v>
                </c:pt>
                <c:pt idx="2">
                  <c:v>1290</c:v>
                </c:pt>
                <c:pt idx="3">
                  <c:v>1370</c:v>
                </c:pt>
                <c:pt idx="4">
                  <c:v>1460</c:v>
                </c:pt>
                <c:pt idx="5">
                  <c:v>1560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Muscat apartments</c:v>
                </c:pt>
              </c:strCache>
            </c:strRef>
          </c:tx>
          <c:spPr>
            <a:ln w="19050">
              <a:solidFill>
                <a:srgbClr val="8E837D"/>
              </a:solidFill>
            </a:ln>
          </c:spPr>
          <c:marker>
            <c:symbol val="circle"/>
            <c:size val="6"/>
            <c:spPr>
              <a:solidFill>
                <a:srgbClr val="F7F2ED"/>
              </a:solidFill>
              <a:ln>
                <a:solidFill>
                  <a:srgbClr val="8E837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930 Muscat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760</c:v>
                </c:pt>
                <c:pt idx="1">
                  <c:v>780</c:v>
                </c:pt>
                <c:pt idx="2">
                  <c:v>805</c:v>
                </c:pt>
                <c:pt idx="3">
                  <c:v>840</c:v>
                </c:pt>
                <c:pt idx="4">
                  <c:v>885</c:v>
                </c:pt>
                <c:pt idx="5">
                  <c:v>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Noor Residences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3"/>
            <c:spPr>
              <a:solidFill>
                <a:srgbClr val="AA9180"/>
              </a:solidFill>
              <a:ln>
                <a:solidFill>
                  <a:srgbClr val="AA9180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602733"/>
                        </a:solidFill>
                        <a:latin typeface="Jost"/>
                      </a:rPr>
                      <a:t>1,670 Noor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5">
                  <c:v>1670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800.0"/>
          <c:min val="60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2118791784"/>
        <c:crosses val="autoZero"/>
        <c:majorUnit val="3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Cover. Replace the portal image (right) by right-click → Change Picture; the rounded top keeps the SIRAJ Portal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Section divider (dark silk). Use silk only on cover, dividers and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Title + text. Title 56–64 px Jost Light (28–32 pt), body 24–28 px (12–14 pt).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Two-column — image with one Silk Corner (top-end) + specification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Key numbers (dark). Numerals Jost ExtraLight; units in Sand. Mark the key figure with one Lumen.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Charts. Native charts — right-click → Edit Data. Brand rules: hairline gridlines, light numerals, direct labels (no legend), Maroon for the highlight, Stone for the rest, Lumen ◆ for the key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Timeline. Filled Maroon Lumen = complete, outlined = upcoming, Stone = key milestone. Move the dashed Today marker as the programme advances.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Full-bleed image + caption. Keep text in the calm, darker third of the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Data table — native table, no fills, hairline rules, figures right-aligned in light tabular numerals.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Quote. One sentence, Jost Light, attribution in caption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Closing / contact. Contact details come from 00-Brand-Foundation/brand.config.json (placeholders until confirmed).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cover (RTL). Paragraphs are set right-to-left; numbers stay Western (0–9). Arabic is never tracked or uppercased.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title + text (RTL). Mirror the grid: title on the right (start), content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RAJ ·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7103533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066800" cy="305246"/>
          </a:xfrm>
          <a:prstGeom prst="rect">
            <a:avLst/>
          </a:prstGeom>
        </p:spPr>
      </p:pic>
      <p:sp>
        <p:nvSpPr>
          <p:cNvPr id="4" name="Lumen"/>
          <p:cNvSpPr/>
          <p:nvPr/>
        </p:nvSpPr>
        <p:spPr>
          <a:xfrm rot="2700000">
            <a:off x="762000" y="32258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901700" y="317500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INVESTOR PRESENTATION · OCTOBER 2026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35052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Noor Residences</a:t>
            </a:r>
          </a:p>
        </p:txBody>
      </p:sp>
      <p:sp>
        <p:nvSpPr>
          <p:cNvPr id="7" name="Arabic name"/>
          <p:cNvSpPr txBox="1"/>
          <p:nvPr/>
        </p:nvSpPr>
        <p:spPr>
          <a:xfrm>
            <a:off x="762000" y="4381500"/>
            <a:ext cx="52324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2400" lang="ar-OM">
                <a:solidFill>
                  <a:srgbClr val="D6C0B2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A 24-storey tower of 168 residences in Al Khuwair, Muscat.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496050"/>
            <a:ext cx="571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SIRAJ REAL ESTATE DEVELOPMENT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Drape-Lumen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8000"/>
                </a:srgbClr>
              </a:gs>
              <a:gs pos="38000">
                <a:srgbClr val="170608">
                  <a:alpha val="45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 number"/>
          <p:cNvSpPr txBox="1"/>
          <p:nvPr/>
        </p:nvSpPr>
        <p:spPr>
          <a:xfrm>
            <a:off x="7112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>
                <a:solidFill>
                  <a:srgbClr val="D6C0B2"/>
                </a:solidFill>
                <a:latin typeface="Jost ExtraLight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762000" y="40640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Twenty-four storeys shaped by light, on Muscat's coastal spine.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4326467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A quiet tower at the centre of Muscat, half sold in seven months.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260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>
                <a:solidFill>
                  <a:srgbClr val="140E10"/>
                </a:solidFill>
                <a:latin typeface="Jost ExtraLight"/>
              </a:rPr>
              <a:t>84</a:t>
            </a:r>
            <a:r>
              <a:rPr sz="1800">
                <a:solidFill>
                  <a:srgbClr val="6B625E"/>
                </a:solidFill>
                <a:latin typeface="Jost Light"/>
              </a:rPr>
              <a:t> / 168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5867400"/>
            <a:ext cx="4326467" cy="0"/>
          </a:xfrm>
          <a:prstGeom prst="line">
            <a:avLst/>
          </a:prstGeom>
          <a:ln w="19050">
            <a:solidFill>
              <a:srgbClr val="AA9180">
                <a:alpha val="35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2000" y="5867400"/>
            <a:ext cx="2163233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sp>
        <p:nvSpPr>
          <p:cNvPr id="7" name="Lumen"/>
          <p:cNvSpPr/>
          <p:nvPr/>
        </p:nvSpPr>
        <p:spPr>
          <a:xfrm rot="2700000">
            <a:off x="2880783" y="5822950"/>
            <a:ext cx="88900" cy="889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0198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RESIDENCES SOLD · SEPTEMBER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76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Lumen"/>
          <p:cNvSpPr/>
          <p:nvPr/>
        </p:nvSpPr>
        <p:spPr>
          <a:xfrm rot="2700000">
            <a:off x="6203950" y="10223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0" y="9144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A prime, connected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12446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On Sultan Qaboos Street in Al Khuwair, five minutes from the Grand Mosque and fifteen from the airport.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976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4" name="Lumen"/>
          <p:cNvSpPr/>
          <p:nvPr/>
        </p:nvSpPr>
        <p:spPr>
          <a:xfrm rot="2700000">
            <a:off x="6203950" y="23685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200" y="22606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Strong early absorption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25908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84 of 168 residences sold since launch in March 2026, about twelve each month.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976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8" name="Lumen"/>
          <p:cNvSpPr/>
          <p:nvPr/>
        </p:nvSpPr>
        <p:spPr>
          <a:xfrm rot="2700000">
            <a:off x="6203950" y="37147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200" y="36068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Resilient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9370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OMR 40.0 M gross development value and a projected 27% gross margin on an OMR 29.2 M budget.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976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6203950" y="50609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9530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On programme for Q4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52832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Foundations and podium are complete. The structure has reached level 9 of 24.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76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6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EXECUTIVE SUMMARY</a:t>
            </a:r>
          </a:p>
        </p:txBody>
      </p:sp>
      <p:sp>
        <p:nvSpPr>
          <p:cNvPr id="28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03</a:t>
            </a:r>
          </a:p>
        </p:txBody>
      </p:sp>
      <p:pic>
        <p:nvPicPr>
          <p:cNvPr id="29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· Silk Corner" descr="SIRAJ_Photo_Residential-Tower-Golden-Hour_v1.0.jpg"/>
          <p:cNvPicPr>
            <a:picLocks noChangeAspect="1"/>
          </p:cNvPicPr>
          <p:nvPr/>
        </p:nvPicPr>
        <p:blipFill>
          <a:blip r:embed="rId2"/>
          <a:srcRect l="25417" r="25417"/>
          <a:stretch>
            <a:fillRect/>
          </a:stretch>
        </p:blipFill>
        <p:spPr>
          <a:xfrm>
            <a:off x="0" y="0"/>
            <a:ext cx="5994400" cy="6858000"/>
          </a:xfrm>
          <a:prstGeom prst="round1Rect">
            <a:avLst>
              <a:gd name="adj" fmla="val 30000"/>
            </a:avLst>
          </a:prstGeom>
        </p:spPr>
      </p:pic>
      <p:sp>
        <p:nvSpPr>
          <p:cNvPr id="3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PROJECT OVERVIEW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103533" y="863600"/>
            <a:ext cx="43264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Noor Residences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3533" y="14986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A slender tower of warm stone and bronze. Deep loggias temper the afternoon sun and frame long views to the Gulf of Oman.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03533" y="34798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103533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3533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Al Khuwair, Muscat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68367" y="34798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368367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TYPOLOGY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8367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Residential tower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03533" y="41719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103533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FLOORS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3533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24 + podium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68367" y="41719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9368367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RESIDENCES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8367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168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03533" y="48641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103533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PLOT AREA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3533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5,170 m²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8367" y="48641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9368367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FLOOR AREA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8367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31,500 m²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03533" y="55562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103533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SALEABLE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3533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23,930 m²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68367" y="55562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9368367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68367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30" name="Lumen"/>
          <p:cNvSpPr/>
          <p:nvPr/>
        </p:nvSpPr>
        <p:spPr>
          <a:xfrm rot="2700000">
            <a:off x="7106708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ooter · section"/>
          <p:cNvSpPr txBox="1"/>
          <p:nvPr/>
        </p:nvSpPr>
        <p:spPr>
          <a:xfrm>
            <a:off x="7230533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01 · THE PROJECT</a:t>
            </a:r>
          </a:p>
        </p:txBody>
      </p:sp>
      <p:sp>
        <p:nvSpPr>
          <p:cNvPr id="32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04</a:t>
            </a:r>
          </a:p>
        </p:txBody>
      </p:sp>
      <p:pic>
        <p:nvPicPr>
          <p:cNvPr id="33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KEY NUMBERS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Noor Residences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762000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168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Residences across 24 floors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5733" y="24892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385733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50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733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Sold within seven months of launch</a:t>
            </a:r>
          </a:p>
        </p:txBody>
      </p:sp>
      <p:sp>
        <p:nvSpPr>
          <p:cNvPr id="10" name="Lumen"/>
          <p:cNvSpPr/>
          <p:nvPr/>
        </p:nvSpPr>
        <p:spPr>
          <a:xfrm rot="2700000">
            <a:off x="7672917" y="2838450"/>
            <a:ext cx="114300" cy="1143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09467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009467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40.0</a:t>
            </a:r>
            <a:r>
              <a:rPr sz="2000">
                <a:solidFill>
                  <a:srgbClr val="D6C0B2"/>
                </a:solidFill>
                <a:latin typeface="Jost Light"/>
              </a:rPr>
              <a:t>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9467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Gross development value · OMR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2000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27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margin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5733" y="43688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85733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6.4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733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rental yield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09467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009467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2027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9467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Handover · Q4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02 · PERFORMANCE</a:t>
            </a:r>
          </a:p>
        </p:txBody>
      </p:sp>
      <p:sp>
        <p:nvSpPr>
          <p:cNvPr id="2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05</a:t>
            </a:r>
          </a:p>
        </p:txBody>
      </p:sp>
      <p:pic>
        <p:nvPicPr>
          <p:cNvPr id="26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SALES &amp; PRICING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88561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Steady absorption at a premium to 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Sales velocity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Residences sold per month, 2026 · 84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76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Price per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Average asking price, OMR per m² of saleable area</a:t>
            </a:r>
          </a:p>
        </p:txBody>
      </p:sp>
      <p:graphicFrame>
        <p:nvGraphicFramePr>
          <p:cNvPr id="8" name="Chart · Sales velocity"/>
          <p:cNvGraphicFramePr>
            <a:graphicFrameLocks noGrp="1"/>
          </p:cNvGraphicFramePr>
          <p:nvPr/>
        </p:nvGraphicFramePr>
        <p:xfrm>
          <a:off x="6604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· Price per m²"/>
          <p:cNvGraphicFramePr>
            <a:graphicFrameLocks noGrp="1"/>
          </p:cNvGraphicFramePr>
          <p:nvPr/>
        </p:nvGraphicFramePr>
        <p:xfrm>
          <a:off x="60960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2000" y="60452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Source: SIRAJ sales records, Sep 2026. Market series are illustrative demonstration data.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13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06</a:t>
            </a:r>
          </a:p>
        </p:txBody>
      </p:sp>
      <p:pic>
        <p:nvPicPr>
          <p:cNvPr id="14" name="SIRAJ wordmark" descr="SIRAJ_Logo_Primary_v1.0_1024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613833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DELIVERY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61383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On programme for handover in Q4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6138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6B625E"/>
                </a:solidFill>
                <a:latin typeface="Jost"/>
              </a:rPr>
              <a:t>The structure has reached level 9 of 24. Construction is 38% complete.</a:t>
            </a:r>
          </a:p>
        </p:txBody>
      </p:sp>
      <p:pic>
        <p:nvPicPr>
          <p:cNvPr id="5" name="Site photo" descr="SIRAJ_Photo_Construction-Site-Dawn_v1.0.jpg"/>
          <p:cNvPicPr>
            <a:picLocks noChangeAspect="1"/>
          </p:cNvPicPr>
          <p:nvPr/>
        </p:nvPicPr>
        <p:blipFill>
          <a:blip r:embed="rId2"/>
          <a:srcRect t="10861" b="10861"/>
          <a:stretch>
            <a:fillRect/>
          </a:stretch>
        </p:blipFill>
        <p:spPr>
          <a:xfrm>
            <a:off x="7103533" y="609600"/>
            <a:ext cx="4326467" cy="190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03533" y="26162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SITE PROGRESS · OCTOBER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2000" y="4826000"/>
            <a:ext cx="106680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62000" y="4826000"/>
            <a:ext cx="5778500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40500" y="4216400"/>
            <a:ext cx="0" cy="609600"/>
          </a:xfrm>
          <a:prstGeom prst="line">
            <a:avLst/>
          </a:prstGeom>
          <a:ln w="9525">
            <a:solidFill>
              <a:srgbClr val="602733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6629400" y="41656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02733"/>
                </a:solidFill>
                <a:latin typeface="Jost Medium"/>
              </a:rPr>
              <a:t>TODAY · OCT 2026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20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Land acquired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Plot secured on Sultan Qaboos Street</a:t>
            </a:r>
          </a:p>
        </p:txBody>
      </p:sp>
      <p:sp>
        <p:nvSpPr>
          <p:cNvPr id="15" name="Lumen"/>
          <p:cNvSpPr/>
          <p:nvPr/>
        </p:nvSpPr>
        <p:spPr>
          <a:xfrm rot="2700000">
            <a:off x="21209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09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09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Permits &amp;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09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Building permit and design freeze</a:t>
            </a:r>
          </a:p>
        </p:txBody>
      </p:sp>
      <p:sp>
        <p:nvSpPr>
          <p:cNvPr id="19" name="Lumen"/>
          <p:cNvSpPr/>
          <p:nvPr/>
        </p:nvSpPr>
        <p:spPr>
          <a:xfrm rot="2700000">
            <a:off x="34798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98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98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Sales launch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98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Released to market in March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48387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87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87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Foundations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87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Piling and two basement levels</a:t>
            </a:r>
          </a:p>
        </p:txBody>
      </p:sp>
      <p:sp>
        <p:nvSpPr>
          <p:cNvPr id="27" name="Lumen"/>
          <p:cNvSpPr/>
          <p:nvPr/>
        </p:nvSpPr>
        <p:spPr>
          <a:xfrm rot="2700000">
            <a:off x="61976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76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76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Podium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76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Podium slab and amenity shell</a:t>
            </a:r>
          </a:p>
        </p:txBody>
      </p:sp>
      <p:sp>
        <p:nvSpPr>
          <p:cNvPr id="31" name="Lumen"/>
          <p:cNvSpPr/>
          <p:nvPr/>
        </p:nvSpPr>
        <p:spPr>
          <a:xfrm rot="2700000">
            <a:off x="75565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65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65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Topping 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65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Structure complete to level 24</a:t>
            </a:r>
          </a:p>
        </p:txBody>
      </p:sp>
      <p:sp>
        <p:nvSpPr>
          <p:cNvPr id="35" name="Lumen"/>
          <p:cNvSpPr/>
          <p:nvPr/>
        </p:nvSpPr>
        <p:spPr>
          <a:xfrm rot="2700000">
            <a:off x="89154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Façade &amp; fit-out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Envelope sealed, interiors underway</a:t>
            </a:r>
          </a:p>
        </p:txBody>
      </p:sp>
      <p:sp>
        <p:nvSpPr>
          <p:cNvPr id="39" name="Lumen"/>
          <p:cNvSpPr/>
          <p:nvPr/>
        </p:nvSpPr>
        <p:spPr>
          <a:xfrm rot="2700000">
            <a:off x="10274300" y="4775200"/>
            <a:ext cx="101600" cy="1016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43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43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Handover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743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Keys to the first residents</a:t>
            </a:r>
          </a:p>
        </p:txBody>
      </p:sp>
      <p:sp>
        <p:nvSpPr>
          <p:cNvPr id="4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4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07</a:t>
            </a:r>
          </a:p>
        </p:txBody>
      </p:sp>
      <p:pic>
        <p:nvPicPr>
          <p:cNvPr id="46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ull-bleed image" descr="SIRAJ_Photo_Apartment-Interior-Sea-View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2000"/>
                </a:srgbClr>
              </a:gs>
              <a:gs pos="38000">
                <a:srgbClr val="170608">
                  <a:alpha val="40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crim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gradFill rotWithShape="1">
            <a:gsLst>
              <a:gs pos="0">
                <a:srgbClr val="170608">
                  <a:alpha val="0"/>
                </a:srgbClr>
              </a:gs>
              <a:gs pos="100000">
                <a:srgbClr val="170608">
                  <a:alpha val="5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THE RESIDENCES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863600"/>
            <a:ext cx="4326467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Every home opens to the light of the Gulf.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06600"/>
            <a:ext cx="523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TYPICAL TWO-BEDROOM LIVING ROOM · VISUALISATION</a:t>
            </a:r>
          </a:p>
        </p:txBody>
      </p:sp>
      <p:sp>
        <p:nvSpPr>
          <p:cNvPr id="8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01 · THE PROJECT</a:t>
            </a:r>
          </a:p>
        </p:txBody>
      </p:sp>
      <p:sp>
        <p:nvSpPr>
          <p:cNvPr id="10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08</a:t>
            </a:r>
          </a:p>
        </p:txBody>
      </p:sp>
      <p:pic>
        <p:nvPicPr>
          <p:cNvPr id="11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FINANCIALS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Development budget and returns</a:t>
            </a:r>
          </a:p>
        </p:txBody>
      </p:sp>
      <p:graphicFrame>
        <p:nvGraphicFramePr>
          <p:cNvPr id="4" name="Table · Budget"/>
          <p:cNvGraphicFramePr>
            <a:graphicFrameLocks noGrp="1"/>
          </p:cNvGraphicFramePr>
          <p:nvPr/>
        </p:nvGraphicFramePr>
        <p:xfrm>
          <a:off x="762000" y="1841500"/>
          <a:ext cx="7044267" cy="3365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17707"/>
                <a:gridCol w="1267968"/>
                <a:gridCol w="1479296"/>
                <a:gridCol w="1479296"/>
              </a:tblGrid>
              <a:tr h="393700">
                <a:tc>
                  <a:txBody>
                    <a:bodyPr/>
                    <a:lstStyle/>
                    <a:p>
                      <a:pPr algn="l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BUDGET LINE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OMR 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SHARE OF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COMMITTED TO DATE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Land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Construction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19.8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67.8%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Professional fees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1.9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6.5%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72%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Marketing &amp; sales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Finance &amp; contingency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0E10"/>
                          </a:solidFill>
                          <a:latin typeface="Jost Medium"/>
                        </a:rPr>
                        <a:t>Total development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29.2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100.0%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55%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4610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Figures in OMR million unless stated. Projections are illustrative and subject to change.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915400" y="1841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915400" y="19812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DEVELOPMENT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21844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40.0 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15400" y="26543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915400" y="27940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972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10.8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15400" y="34671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915400" y="36068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38100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602733"/>
                </a:solidFill>
                <a:latin typeface="Jost Light"/>
              </a:rPr>
              <a:t>27.0%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15400" y="42799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915400" y="44196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PROJECT IRR, UNLEVERED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6228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19.6%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15400" y="50927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8915400" y="52324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CONTRACTED 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4356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18.4 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5905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03 · INVESTMENT</a:t>
            </a:r>
          </a:p>
        </p:txBody>
      </p:sp>
      <p:sp>
        <p:nvSpPr>
          <p:cNvPr id="24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09</a:t>
            </a:r>
          </a:p>
        </p:txBody>
      </p:sp>
      <p:pic>
        <p:nvPicPr>
          <p:cNvPr id="25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umen halo"/>
          <p:cNvSpPr/>
          <p:nvPr/>
        </p:nvSpPr>
        <p:spPr>
          <a:xfrm>
            <a:off x="234950" y="863600"/>
            <a:ext cx="1524000" cy="1524000"/>
          </a:xfrm>
          <a:prstGeom prst="ellipse">
            <a:avLst/>
          </a:prstGeom>
          <a:gradFill rotWithShape="1">
            <a:gsLst>
              <a:gs pos="0">
                <a:srgbClr val="D6C0B2">
                  <a:alpha val="55000"/>
                </a:srgbClr>
              </a:gs>
              <a:gs pos="100000">
                <a:srgbClr val="D6C0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umen"/>
          <p:cNvSpPr/>
          <p:nvPr/>
        </p:nvSpPr>
        <p:spPr>
          <a:xfrm rot="2700000">
            <a:off x="831850" y="1460500"/>
            <a:ext cx="330200" cy="3302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730500"/>
            <a:ext cx="79502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>
                <a:solidFill>
                  <a:srgbClr val="F7F2ED"/>
                </a:solidFill>
                <a:latin typeface="Jost Light"/>
              </a:rPr>
              <a:t>We build slowly, so that the people who live here can live quietly.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21200"/>
            <a:ext cx="304800" cy="0"/>
          </a:xfrm>
          <a:prstGeom prst="line">
            <a:avLst/>
          </a:prstGeom>
          <a:ln w="9525">
            <a:solidFill>
              <a:srgbClr val="D6C0B2">
                <a:alpha val="60000"/>
              </a:srgbClr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193800" y="4445000"/>
            <a:ext cx="635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CHIEF EXECUTIVE OFFICER · SIRAJ REAL ESTATE DEVELOPMENT</a:t>
            </a:r>
          </a:p>
        </p:txBody>
      </p:sp>
      <p:sp>
        <p:nvSpPr>
          <p:cNvPr id="7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CLOSING</a:t>
            </a:r>
          </a:p>
        </p:txBody>
      </p:sp>
      <p:sp>
        <p:nvSpPr>
          <p:cNvPr id="9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10</a:t>
            </a:r>
          </a:p>
        </p:txBody>
      </p:sp>
      <p:pic>
        <p:nvPicPr>
          <p:cNvPr id="10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Gateway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500" y="2095500"/>
            <a:ext cx="2159000" cy="617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060700"/>
            <a:ext cx="12192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>
                <a:solidFill>
                  <a:srgbClr val="D6C0B2"/>
                </a:solidFill>
                <a:latin typeface="Jost Light"/>
              </a:rPr>
              <a:t>Light,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989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spc="128">
                <a:solidFill>
                  <a:srgbClr val="D6C0B2"/>
                </a:solidFill>
                <a:latin typeface="Jost Medium"/>
              </a:rPr>
              <a:t>BOOK A PRIVATE VIEWING AT THE SIRAJ SALES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16400"/>
            <a:ext cx="1219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E9DDD4"/>
                </a:solidFill>
                <a:latin typeface="Jost Light"/>
              </a:rPr>
              <a:t>sirajproperties.net   ◆   info@sirajproperties.net   ◆   +968 2400 0000   ◆   Al Khuwair, Muscat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992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>
                <a:solidFill>
                  <a:srgbClr val="D6C0B2"/>
                </a:solidFill>
                <a:latin typeface="Jost"/>
              </a:rPr>
              <a:t>Noor Residences is a demonstration project. All figures are illustrative and do not constitute an offer.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0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09600"/>
            <a:ext cx="1066800" cy="30524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197600" y="2984500"/>
            <a:ext cx="508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D6C0B2"/>
                </a:solidFill>
                <a:latin typeface="Tajawal Medium"/>
                <a:cs typeface="Tajawal Medium"/>
              </a:rPr>
              <a:t>عرض المستثمرين · أكتوبر 2026</a:t>
            </a:r>
          </a:p>
        </p:txBody>
      </p:sp>
      <p:sp>
        <p:nvSpPr>
          <p:cNvPr id="5" name="Lumen"/>
          <p:cNvSpPr/>
          <p:nvPr/>
        </p:nvSpPr>
        <p:spPr>
          <a:xfrm rot="2700000">
            <a:off x="11379200" y="30607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 txBox="1"/>
          <p:nvPr/>
        </p:nvSpPr>
        <p:spPr>
          <a:xfrm>
            <a:off x="6197600" y="3302000"/>
            <a:ext cx="5232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800" lang="ar-OM">
                <a:solidFill>
                  <a:srgbClr val="F7F2ED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4318000"/>
            <a:ext cx="5232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>
                <a:solidFill>
                  <a:srgbClr val="D6C0B2"/>
                </a:solidFill>
                <a:latin typeface="Jost Light"/>
              </a:rPr>
              <a:t>Noor Residences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7600" y="4889500"/>
            <a:ext cx="5232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600" lang="ar-OM">
                <a:solidFill>
                  <a:srgbClr val="E9DDD4"/>
                </a:solidFill>
                <a:latin typeface="Tajawal Light"/>
                <a:cs typeface="Tajawal Light"/>
              </a:rPr>
              <a:t>برج سكني من 24 طابقاً يضم 168 وحدة سكنية في الخوير، مسقط.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7600" y="6464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D6C0B2"/>
                </a:solidFill>
                <a:latin typeface="Tajawal Medium"/>
                <a:cs typeface="Tajawal Medium"/>
              </a:rPr>
              <a:t>سراج للتطوير العقاري · سرّي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103533" y="609600"/>
            <a:ext cx="4326467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02733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103533" y="863600"/>
            <a:ext cx="4326467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lang="ar-OM">
                <a:solidFill>
                  <a:srgbClr val="140E10"/>
                </a:solidFill>
                <a:latin typeface="Tajawal Light"/>
                <a:cs typeface="Tajawal Light"/>
              </a:rPr>
              <a:t>برج هادئ في قلب مسقط، بيع نصفه خلال سبعة أشهر.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5" name="Lumen"/>
          <p:cNvSpPr/>
          <p:nvPr/>
        </p:nvSpPr>
        <p:spPr>
          <a:xfrm rot="2700000">
            <a:off x="5924550" y="10350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890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عنوان مميّز ومتّصل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700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على شارع السلطان قابوس في الخوير، على بُعد خمس دقائق من الجامع الأكبر وربع ساعة من المطار.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20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9" name="Lumen"/>
          <p:cNvSpPr/>
          <p:nvPr/>
        </p:nvSpPr>
        <p:spPr>
          <a:xfrm rot="2700000">
            <a:off x="5924550" y="23812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2352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إقبال قوي منذ الإطلاق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162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بيعت 84 وحدة من أصل 168 منذ الإطلاق في مارس 2026، بمعدل 12 وحدة شهرياً تقريباً.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20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Lumen"/>
          <p:cNvSpPr/>
          <p:nvPr/>
        </p:nvSpPr>
        <p:spPr>
          <a:xfrm rot="2700000">
            <a:off x="5924550" y="37274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35814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جدوى اقتصادية متينة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9624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قيمة تطوير إجمالية 40.0 مليون ر.ع. وهامش ربح إجمالي متوقع 27% على ميزانية 29.2 مليون ر.ع.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20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7" name="Lumen"/>
          <p:cNvSpPr/>
          <p:nvPr/>
        </p:nvSpPr>
        <p:spPr>
          <a:xfrm rot="2700000">
            <a:off x="5924550" y="50736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9276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التسليم في الربع الرابع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086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اكتملت الأساسات والمنصة، ووصل الهيكل إلى الطابق 9 من 24.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20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1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ooter · section"/>
          <p:cNvSpPr txBox="1"/>
          <p:nvPr/>
        </p:nvSpPr>
        <p:spPr>
          <a:xfrm>
            <a:off x="6985000" y="6489700"/>
            <a:ext cx="4343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6B625E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pic>
        <p:nvPicPr>
          <p:cNvPr id="23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  <p:sp>
        <p:nvSpPr>
          <p:cNvPr id="24" name="Footer · page"/>
          <p:cNvSpPr txBox="1"/>
          <p:nvPr/>
        </p:nvSpPr>
        <p:spPr>
          <a:xfrm>
            <a:off x="1524000" y="64897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RAJ">
  <a:themeElements>
    <a:clrScheme name="SIRAJ">
      <a:dk1>
        <a:srgbClr val="140E10"/>
      </a:dk1>
      <a:lt1>
        <a:srgbClr val="F7F2ED"/>
      </a:lt1>
      <a:dk2>
        <a:srgbClr val="2C0F12"/>
      </a:dk2>
      <a:lt2>
        <a:srgbClr val="EFE7E0"/>
      </a:lt2>
      <a:accent1>
        <a:srgbClr val="602733"/>
      </a:accent1>
      <a:accent2>
        <a:srgbClr val="AA9180"/>
      </a:accent2>
      <a:accent3>
        <a:srgbClr val="3B3436"/>
      </a:accent3>
      <a:accent4>
        <a:srgbClr val="C79A9C"/>
      </a:accent4>
      <a:accent5>
        <a:srgbClr val="8E837D"/>
      </a:accent5>
      <a:accent6>
        <a:srgbClr val="2C0F12"/>
      </a:accent6>
      <a:hlink>
        <a:srgbClr val="602733"/>
      </a:hlink>
      <a:folHlink>
        <a:srgbClr val="81404C"/>
      </a:folHlink>
    </a:clrScheme>
    <a:fontScheme name="SIRAJ">
      <a:majorFont>
        <a:latin typeface="Jost Light"/>
        <a:ea typeface=""/>
        <a:cs typeface="Tajawal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Tajawal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SIRAJ Presentation Template v1.0</dc:title>
  <dc:subject>Noor Residences — sample investor presentation (demonstration project)</dc:subject>
  <dc:creator>SIRAJ Real Estate Development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