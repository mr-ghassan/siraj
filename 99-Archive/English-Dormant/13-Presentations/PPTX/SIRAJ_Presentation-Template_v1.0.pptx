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Residences sold</c:v>
                </c:pt>
              </c:strCache>
            </c:strRef>
          </c:tx>
          <c:spPr>
            <a:solidFill>
              <a:srgbClr val="AA9180"/>
            </a:solidFill>
          </c:spPr>
          <c:dPt>
            <c:idx val="0"/>
            <c:spPr>
              <a:solidFill>
                <a:srgbClr val="602733"/>
              </a:solidFill>
            </c:spPr>
          </c:dPt>
          <c:cat>
            <c:strRef>
              <c:f>Sheet1!$A$2:$A$8</c:f>
              <c:strCache>
                <c:ptCount val="7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12</c:v>
                </c:pt>
                <c:pt idx="2">
                  <c:v>9</c:v>
                </c:pt>
                <c:pt idx="3">
                  <c:v>11</c:v>
                </c:pt>
                <c:pt idx="4">
                  <c:v>10</c:v>
                </c:pt>
                <c:pt idx="5">
                  <c:v>12</c:v>
                </c:pt>
                <c:pt idx="6">
                  <c:v>13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3B3436"/>
                  </a:solidFill>
                  <a:latin typeface="Jost Ligh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3B3436"/>
            </a:solidFill>
          </a:ln>
        </c:spPr>
        <c:txPr>
          <a:bodyPr/>
          <a:lstStyle/>
          <a:p>
            <a:pPr>
              <a:defRPr sz="900">
                <a:solidFill>
                  <a:srgbClr val="6B625E"/>
                </a:solidFill>
                <a:latin typeface="Jos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 w="6350">
              <a:solidFill>
                <a:srgbClr val="AA9180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25E"/>
                </a:solidFill>
                <a:latin typeface="Jost Light"/>
              </a:defRPr>
            </a:pPr>
          </a:p>
        </c:txPr>
        <c:crossAx val="-2068027336"/>
        <c:crosses val="autoZero"/>
        <c:majorUnit val="5.0"/>
      </c:valAx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6B625E"/>
          </a:solidFill>
          <a:latin typeface="Jost Ligh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9"/>
          <c:y val="0.06"/>
          <c:w val="0.66"/>
          <c:h val="0.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 Khuwair new-build</c:v>
                </c:pt>
              </c:strCache>
            </c:strRef>
          </c:tx>
          <c:spPr>
            <a:ln w="28575">
              <a:solidFill>
                <a:srgbClr val="602733"/>
              </a:solidFill>
            </a:ln>
          </c:spPr>
          <c:marker>
            <c:symbol val="circle"/>
            <c:size val="7"/>
            <c:spPr>
              <a:solidFill>
                <a:srgbClr val="F7F2ED"/>
              </a:solidFill>
              <a:ln>
                <a:solidFill>
                  <a:srgbClr val="602733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40E10"/>
                        </a:solidFill>
                        <a:latin typeface="Jost"/>
                      </a:rPr>
                      <a:t>1,560 Al Khuwair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1180</c:v>
                </c:pt>
                <c:pt idx="1">
                  <c:v>1230</c:v>
                </c:pt>
                <c:pt idx="2">
                  <c:v>1290</c:v>
                </c:pt>
                <c:pt idx="3">
                  <c:v>1370</c:v>
                </c:pt>
                <c:pt idx="4">
                  <c:v>1460</c:v>
                </c:pt>
                <c:pt idx="5">
                  <c:v>1560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Muscat apartments</c:v>
                </c:pt>
              </c:strCache>
            </c:strRef>
          </c:tx>
          <c:spPr>
            <a:ln w="19050">
              <a:solidFill>
                <a:srgbClr val="8E837D"/>
              </a:solidFill>
            </a:ln>
          </c:spPr>
          <c:marker>
            <c:symbol val="circle"/>
            <c:size val="6"/>
            <c:spPr>
              <a:solidFill>
                <a:srgbClr val="F7F2ED"/>
              </a:solidFill>
              <a:ln>
                <a:solidFill>
                  <a:srgbClr val="8E837D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40E10"/>
                        </a:solidFill>
                        <a:latin typeface="Jost"/>
                      </a:rPr>
                      <a:t>930 Muscat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760</c:v>
                </c:pt>
                <c:pt idx="1">
                  <c:v>780</c:v>
                </c:pt>
                <c:pt idx="2">
                  <c:v>805</c:v>
                </c:pt>
                <c:pt idx="3">
                  <c:v>840</c:v>
                </c:pt>
                <c:pt idx="4">
                  <c:v>885</c:v>
                </c:pt>
                <c:pt idx="5">
                  <c:v>930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Noor Residences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13"/>
            <c:spPr>
              <a:solidFill>
                <a:srgbClr val="AA9180"/>
              </a:solidFill>
              <a:ln>
                <a:solidFill>
                  <a:srgbClr val="AA9180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602733"/>
                        </a:solidFill>
                        <a:latin typeface="Jost"/>
                      </a:rPr>
                      <a:t>1,670 Noor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5">
                  <c:v>1670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3B3436"/>
            </a:solidFill>
          </a:ln>
        </c:spPr>
        <c:txPr>
          <a:bodyPr/>
          <a:lstStyle/>
          <a:p>
            <a:pPr>
              <a:defRPr sz="900">
                <a:solidFill>
                  <a:srgbClr val="6B625E"/>
                </a:solidFill>
                <a:latin typeface="Jos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800.0"/>
          <c:min val="600.0"/>
        </c:scaling>
        <c:delete val="0"/>
        <c:axPos val="l"/>
        <c:majorGridlines>
          <c:spPr>
            <a:ln w="6350">
              <a:solidFill>
                <a:srgbClr val="AA9180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25E"/>
                </a:solidFill>
                <a:latin typeface="Jost Light"/>
              </a:defRPr>
            </a:pPr>
          </a:p>
        </c:txPr>
        <c:crossAx val="2118791784"/>
        <c:crosses val="autoZero"/>
        <c:majorUnit val="300.0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6B625E"/>
          </a:solidFill>
          <a:latin typeface="Jost Ligh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Cover. Replace the portal image (right) by right-click → Change Picture; the rounded top keeps the SIRAJ Portal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Section divider (dark silk). Use silk only on cover, dividers and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Title + text. Title 56–64 px Jost Light (28–32 pt), body 24–28 px (12–14 pt).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Two-column — image with one Silk Corner (top-end) + specification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Key numbers (dark). Numerals Jost ExtraLight; units in Sand. Mark the key figure with one Lumen.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Charts. Native charts — right-click → Edit Data. Brand rules: hairline gridlines, light numerals, direct labels (no legend), Maroon for the highlight, Stone for the rest, Lumen ◆ for the key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Timeline. Filled Maroon Lumen = complete, outlined = upcoming, Stone = key milestone. Move the dashed Today marker as the programme advances.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Full-bleed image + caption. Keep text in the calm, darker third of the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Data table — native table, no fills, hairline rules, figures right-aligned in light tabular numerals.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Quote. One sentence, Jost Light, attribution in caption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Closing / contact. Contact details come from 00-Brand-Foundation/brand.config.json (placeholders until confirmed).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Arabic cover (RTL). Paragraphs are set right-to-left; numbers stay Western (0–9). Arabic is never tracked or uppercased.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Arabic title + text (RTL). Mirror the grid: title on the right (start), content on the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RAJ ·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ortal image" descr="SIRAJ_Photo_Campaign-Silk-Wrap_v1.0.jpg"/>
          <p:cNvPicPr>
            <a:picLocks noChangeAspect="1"/>
          </p:cNvPicPr>
          <p:nvPr/>
        </p:nvPicPr>
        <p:blipFill>
          <a:blip r:embed="rId2"/>
          <a:srcRect t="12371" b="18557"/>
          <a:stretch>
            <a:fillRect/>
          </a:stretch>
        </p:blipFill>
        <p:spPr>
          <a:xfrm>
            <a:off x="7103533" y="609600"/>
            <a:ext cx="5088467" cy="6248400"/>
          </a:xfrm>
          <a:prstGeom prst="round2SameRect">
            <a:avLst>
              <a:gd name="adj1" fmla="val 34000"/>
              <a:gd name="adj2" fmla="val 0"/>
            </a:avLst>
          </a:prstGeom>
        </p:spPr>
      </p:pic>
      <p:pic>
        <p:nvPicPr>
          <p:cNvPr id="3" name="SIRAJ wordmark" descr="SIRAJ_Logo_Sand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"/>
            <a:ext cx="1066800" cy="305246"/>
          </a:xfrm>
          <a:prstGeom prst="rect">
            <a:avLst/>
          </a:prstGeom>
        </p:spPr>
      </p:pic>
      <p:sp>
        <p:nvSpPr>
          <p:cNvPr id="4" name="Lumen"/>
          <p:cNvSpPr/>
          <p:nvPr/>
        </p:nvSpPr>
        <p:spPr>
          <a:xfrm rot="2700000">
            <a:off x="762000" y="3225800"/>
            <a:ext cx="50800" cy="508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yebrow"/>
          <p:cNvSpPr txBox="1"/>
          <p:nvPr/>
        </p:nvSpPr>
        <p:spPr>
          <a:xfrm>
            <a:off x="901700" y="31750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D6C0B2"/>
                </a:solidFill>
                <a:latin typeface="Jost Medium"/>
              </a:rPr>
              <a:t>INVESTOR PRESENTATION · OCTOBER 2026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3505200"/>
            <a:ext cx="6138333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>
                <a:solidFill>
                  <a:srgbClr val="F7F2ED"/>
                </a:solidFill>
                <a:latin typeface="Jost Light"/>
              </a:rPr>
              <a:t>Noor Residences</a:t>
            </a:r>
          </a:p>
        </p:txBody>
      </p:sp>
      <p:sp>
        <p:nvSpPr>
          <p:cNvPr id="7" name="Arabic name"/>
          <p:cNvSpPr txBox="1"/>
          <p:nvPr/>
        </p:nvSpPr>
        <p:spPr>
          <a:xfrm>
            <a:off x="762000" y="4381500"/>
            <a:ext cx="52324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2400" lang="ar-OM">
                <a:solidFill>
                  <a:srgbClr val="D6C0B2"/>
                </a:solidFill>
                <a:latin typeface="Tajawal Light"/>
                <a:cs typeface="Tajawal Light"/>
              </a:rPr>
              <a:t>مساكن نور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016500"/>
            <a:ext cx="406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>
                <a:solidFill>
                  <a:srgbClr val="E9DDD4"/>
                </a:solidFill>
                <a:latin typeface="Jost Light"/>
              </a:rPr>
              <a:t>A 24-storey tower of 168 residences in Al Khuwair, Muscat.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96050"/>
            <a:ext cx="571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112">
                <a:solidFill>
                  <a:srgbClr val="D6C0B2"/>
                </a:solidFill>
                <a:latin typeface="Jost Medium"/>
              </a:rPr>
              <a:t>SIRAJ REAL ESTATE DEVELOPMENT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ilk background" descr="SIRAJ_Silk_Drape-Lumen_16x9_v1.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70608">
                  <a:alpha val="78000"/>
                </a:srgbClr>
              </a:gs>
              <a:gs pos="38000">
                <a:srgbClr val="170608">
                  <a:alpha val="45000"/>
                </a:srgbClr>
              </a:gs>
              <a:gs pos="62000">
                <a:srgbClr val="170608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number"/>
          <p:cNvSpPr txBox="1"/>
          <p:nvPr/>
        </p:nvSpPr>
        <p:spPr>
          <a:xfrm>
            <a:off x="711200" y="2540000"/>
            <a:ext cx="381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>
                <a:solidFill>
                  <a:srgbClr val="D6C0B2"/>
                </a:solidFill>
                <a:latin typeface="Jost ExtraLight"/>
              </a:rPr>
              <a:t>01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62000" y="4064000"/>
            <a:ext cx="6138333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>
                <a:solidFill>
                  <a:srgbClr val="F7F2ED"/>
                </a:solidFill>
                <a:latin typeface="Jost Light"/>
              </a:rPr>
              <a:t>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016500"/>
            <a:ext cx="406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>
                <a:solidFill>
                  <a:srgbClr val="E9DDD4"/>
                </a:solidFill>
                <a:latin typeface="Jost Light"/>
              </a:rPr>
              <a:t>Twenty-four storeys shaped by light, on Muscat's coastal spine.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762000" y="609600"/>
            <a:ext cx="4326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602733"/>
                </a:solidFill>
                <a:latin typeface="Jost Medium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62000" y="863600"/>
            <a:ext cx="4326467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000">
                <a:solidFill>
                  <a:srgbClr val="140E10"/>
                </a:solidFill>
                <a:latin typeface="Jost Light"/>
              </a:rPr>
              <a:t>A quiet tower at the centre of Muscat, half sold in seven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826000"/>
            <a:ext cx="4326467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>
                <a:solidFill>
                  <a:srgbClr val="140E10"/>
                </a:solidFill>
                <a:latin typeface="Jost ExtraLight"/>
              </a:rPr>
              <a:t>84</a:t>
            </a:r>
            <a:r>
              <a:rPr sz="1800">
                <a:solidFill>
                  <a:srgbClr val="6B625E"/>
                </a:solidFill>
                <a:latin typeface="Jost Light"/>
              </a:rPr>
              <a:t> / 168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2000" y="5867400"/>
            <a:ext cx="4326467" cy="0"/>
          </a:xfrm>
          <a:prstGeom prst="line">
            <a:avLst/>
          </a:prstGeom>
          <a:ln w="19050">
            <a:solidFill>
              <a:srgbClr val="AA9180">
                <a:alpha val="35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62000" y="5867400"/>
            <a:ext cx="2163233" cy="0"/>
          </a:xfrm>
          <a:prstGeom prst="line">
            <a:avLst/>
          </a:prstGeom>
          <a:ln w="19050">
            <a:solidFill>
              <a:srgbClr val="602733"/>
            </a:solidFill>
          </a:ln>
        </p:spPr>
      </p:cxnSp>
      <p:sp>
        <p:nvSpPr>
          <p:cNvPr id="7" name="Lumen"/>
          <p:cNvSpPr/>
          <p:nvPr/>
        </p:nvSpPr>
        <p:spPr>
          <a:xfrm rot="2700000">
            <a:off x="2880783" y="5822950"/>
            <a:ext cx="88900" cy="889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019800"/>
            <a:ext cx="4326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6B625E"/>
                </a:solidFill>
                <a:latin typeface="Jost Medium"/>
              </a:rPr>
              <a:t>RESIDENCES SOLD · SEPTEMBER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7600" y="6604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0" name="Lumen"/>
          <p:cNvSpPr/>
          <p:nvPr/>
        </p:nvSpPr>
        <p:spPr>
          <a:xfrm rot="2700000">
            <a:off x="6203950" y="10223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914400"/>
            <a:ext cx="4876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140E10"/>
                </a:solidFill>
                <a:latin typeface="Jost"/>
              </a:rPr>
              <a:t>A prime, connected 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12446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6B625E"/>
                </a:solidFill>
                <a:latin typeface="Jost"/>
              </a:rPr>
              <a:t>On Sultan Qaboos Street in Al Khuwair, five minutes from the Grand Mosque and fifteen from the airport.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97600" y="20066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4" name="Lumen"/>
          <p:cNvSpPr/>
          <p:nvPr/>
        </p:nvSpPr>
        <p:spPr>
          <a:xfrm rot="2700000">
            <a:off x="6203950" y="23685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200" y="2260600"/>
            <a:ext cx="4876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140E10"/>
                </a:solidFill>
                <a:latin typeface="Jost"/>
              </a:rPr>
              <a:t>Strong early absorption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25908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6B625E"/>
                </a:solidFill>
                <a:latin typeface="Jost"/>
              </a:rPr>
              <a:t>84 of 168 residences sold since launch in March 2026, about twelve each month.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97600" y="33528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8" name="Lumen"/>
          <p:cNvSpPr/>
          <p:nvPr/>
        </p:nvSpPr>
        <p:spPr>
          <a:xfrm rot="2700000">
            <a:off x="6203950" y="37147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200" y="3606800"/>
            <a:ext cx="4876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140E10"/>
                </a:solidFill>
                <a:latin typeface="Jost"/>
              </a:rPr>
              <a:t>Resilient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39370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6B625E"/>
                </a:solidFill>
                <a:latin typeface="Jost"/>
              </a:rPr>
              <a:t>OMR 40.0 M gross development value and a projected 27% gross margin on an OMR 29.2 M budget.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97600" y="46990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2" name="Lumen"/>
          <p:cNvSpPr/>
          <p:nvPr/>
        </p:nvSpPr>
        <p:spPr>
          <a:xfrm rot="2700000">
            <a:off x="6203950" y="50609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953000"/>
            <a:ext cx="4876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140E10"/>
                </a:solidFill>
                <a:latin typeface="Jost"/>
              </a:rPr>
              <a:t>On programme for Q4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52832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6B625E"/>
                </a:solidFill>
                <a:latin typeface="Jost"/>
              </a:rPr>
              <a:t>Foundations and podium are complete. The structure has reached level 9 of 24.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97600" y="60452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6" name="Lumen"/>
          <p:cNvSpPr/>
          <p:nvPr/>
        </p:nvSpPr>
        <p:spPr>
          <a:xfrm rot="2700000">
            <a:off x="7651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ooter · section"/>
          <p:cNvSpPr txBox="1"/>
          <p:nvPr/>
        </p:nvSpPr>
        <p:spPr>
          <a:xfrm>
            <a:off x="889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112">
                <a:solidFill>
                  <a:srgbClr val="6B625E"/>
                </a:solidFill>
                <a:latin typeface="Jost Medium"/>
              </a:rPr>
              <a:t>EXECUTIVE SUMMARY</a:t>
            </a:r>
          </a:p>
        </p:txBody>
      </p:sp>
      <p:sp>
        <p:nvSpPr>
          <p:cNvPr id="28" name="Footer · page"/>
          <p:cNvSpPr txBox="1"/>
          <p:nvPr/>
        </p:nvSpPr>
        <p:spPr>
          <a:xfrm>
            <a:off x="102616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112">
                <a:solidFill>
                  <a:srgbClr val="6B625E"/>
                </a:solidFill>
                <a:latin typeface="Jost Medium"/>
              </a:rPr>
              <a:t>03</a:t>
            </a:r>
          </a:p>
        </p:txBody>
      </p:sp>
      <p:pic>
        <p:nvPicPr>
          <p:cNvPr id="29" name="SIRAJ wordmark" descr="SIRAJ_Logo_Primary_v1.0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· Silk Corner" descr="SIRAJ_Photo_Residential-Tower-Golden-Hour_v1.0.jpg"/>
          <p:cNvPicPr>
            <a:picLocks noChangeAspect="1"/>
          </p:cNvPicPr>
          <p:nvPr/>
        </p:nvPicPr>
        <p:blipFill>
          <a:blip r:embed="rId2"/>
          <a:srcRect l="25417" r="25417"/>
          <a:stretch>
            <a:fillRect/>
          </a:stretch>
        </p:blipFill>
        <p:spPr>
          <a:xfrm>
            <a:off x="0" y="0"/>
            <a:ext cx="5994400" cy="6858000"/>
          </a:xfrm>
          <a:prstGeom prst="round1Rect">
            <a:avLst>
              <a:gd name="adj" fmla="val 30000"/>
            </a:avLst>
          </a:prstGeom>
        </p:spPr>
      </p:pic>
      <p:sp>
        <p:nvSpPr>
          <p:cNvPr id="3" name="Eyebrow"/>
          <p:cNvSpPr txBox="1"/>
          <p:nvPr/>
        </p:nvSpPr>
        <p:spPr>
          <a:xfrm>
            <a:off x="7103533" y="609600"/>
            <a:ext cx="4326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602733"/>
                </a:solidFill>
                <a:latin typeface="Jost Medium"/>
              </a:rPr>
              <a:t>PROJECT 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103533" y="863600"/>
            <a:ext cx="432646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000">
                <a:solidFill>
                  <a:srgbClr val="140E10"/>
                </a:solidFill>
                <a:latin typeface="Jost Light"/>
              </a:rPr>
              <a:t>Noor Residences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3533" y="1498600"/>
            <a:ext cx="4326467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6B625E"/>
                </a:solidFill>
                <a:latin typeface="Jost"/>
              </a:rPr>
              <a:t>A slender tower of warm stone and bronze. Deep loggias temper the afternoon sun and frame long views to the Gulf of Oman.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03533" y="3479800"/>
            <a:ext cx="2061634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103533" y="363220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3533" y="381000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140E10"/>
                </a:solidFill>
                <a:latin typeface="Jost Light"/>
              </a:rPr>
              <a:t>Al Khuwair, Muscat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68367" y="3479800"/>
            <a:ext cx="2061633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9368367" y="363220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TYPOLOGY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8367" y="381000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140E10"/>
                </a:solidFill>
                <a:latin typeface="Jost Light"/>
              </a:rPr>
              <a:t>Residential tower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03533" y="4171950"/>
            <a:ext cx="2061634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103533" y="432435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FLOORS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3533" y="450215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140E10"/>
                </a:solidFill>
                <a:latin typeface="Jost Light"/>
              </a:rPr>
              <a:t>24 + podium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68367" y="4171950"/>
            <a:ext cx="2061633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9368367" y="432435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RESIDENCES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8367" y="450215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140E10"/>
                </a:solidFill>
                <a:latin typeface="Jost Light"/>
              </a:rPr>
              <a:t>168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03533" y="4864100"/>
            <a:ext cx="2061634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103533" y="501650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PLOT AREA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3533" y="519430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140E10"/>
                </a:solidFill>
                <a:latin typeface="Jost Light"/>
              </a:rPr>
              <a:t>5,170 m²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68367" y="4864100"/>
            <a:ext cx="2061633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9368367" y="501650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GROSS FLOOR AREA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8367" y="519430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140E10"/>
                </a:solidFill>
                <a:latin typeface="Jost Light"/>
              </a:rPr>
              <a:t>31,500 m²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03533" y="5556250"/>
            <a:ext cx="2061634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7103533" y="570865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SALEABLE 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3533" y="588645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140E10"/>
                </a:solidFill>
                <a:latin typeface="Jost Light"/>
              </a:rPr>
              <a:t>23,930 m²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68367" y="5556250"/>
            <a:ext cx="2061633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9368367" y="5708650"/>
            <a:ext cx="2061633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HANDOVER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8367" y="5886450"/>
            <a:ext cx="20616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140E10"/>
                </a:solidFill>
                <a:latin typeface="Jost Light"/>
              </a:rPr>
              <a:t>Q4 2027</a:t>
            </a:r>
          </a:p>
        </p:txBody>
      </p:sp>
      <p:sp>
        <p:nvSpPr>
          <p:cNvPr id="30" name="Lumen"/>
          <p:cNvSpPr/>
          <p:nvPr/>
        </p:nvSpPr>
        <p:spPr>
          <a:xfrm rot="2700000">
            <a:off x="7106708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ooter · section"/>
          <p:cNvSpPr txBox="1"/>
          <p:nvPr/>
        </p:nvSpPr>
        <p:spPr>
          <a:xfrm>
            <a:off x="7230533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112">
                <a:solidFill>
                  <a:srgbClr val="6B625E"/>
                </a:solidFill>
                <a:latin typeface="Jost Medium"/>
              </a:rPr>
              <a:t>01 · THE PROJECT</a:t>
            </a:r>
          </a:p>
        </p:txBody>
      </p:sp>
      <p:sp>
        <p:nvSpPr>
          <p:cNvPr id="32" name="Footer · page"/>
          <p:cNvSpPr txBox="1"/>
          <p:nvPr/>
        </p:nvSpPr>
        <p:spPr>
          <a:xfrm>
            <a:off x="102616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112">
                <a:solidFill>
                  <a:srgbClr val="6B625E"/>
                </a:solidFill>
                <a:latin typeface="Jost Medium"/>
              </a:rPr>
              <a:t>04</a:t>
            </a:r>
          </a:p>
        </p:txBody>
      </p:sp>
      <p:pic>
        <p:nvPicPr>
          <p:cNvPr id="33" name="SIRAJ wordmark" descr="SIRAJ_Logo_Primary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762000" y="609600"/>
            <a:ext cx="70442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D6C0B2"/>
                </a:solidFill>
                <a:latin typeface="Jost Medium"/>
              </a:rPr>
              <a:t>KEY NUMBERS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62000" y="863600"/>
            <a:ext cx="704426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000">
                <a:solidFill>
                  <a:srgbClr val="F7F2ED"/>
                </a:solidFill>
                <a:latin typeface="Jost Light"/>
              </a:rPr>
              <a:t>Noor Residences at a glance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2000" y="2489200"/>
            <a:ext cx="3420533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762000" y="27178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>
                <a:solidFill>
                  <a:srgbClr val="F7F2ED"/>
                </a:solidFill>
                <a:latin typeface="Jost ExtraLight"/>
              </a:rPr>
              <a:t>168</a:t>
            </a:r>
            <a:r>
              <a:rPr sz="2000">
                <a:solidFill>
                  <a:srgbClr val="D6C0B2"/>
                </a:solidFill>
                <a:latin typeface="Jost Light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338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E9DDD4"/>
                </a:solidFill>
                <a:latin typeface="Jost"/>
              </a:rPr>
              <a:t>Residences across 24 floors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5733" y="2489200"/>
            <a:ext cx="3420534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385733" y="27178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>
                <a:solidFill>
                  <a:srgbClr val="F7F2ED"/>
                </a:solidFill>
                <a:latin typeface="Jost ExtraLight"/>
              </a:rPr>
              <a:t>50</a:t>
            </a:r>
            <a:r>
              <a:rPr sz="2000">
                <a:solidFill>
                  <a:srgbClr val="D6C0B2"/>
                </a:solidFill>
                <a:latin typeface="Jost Light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5733" y="37338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E9DDD4"/>
                </a:solidFill>
                <a:latin typeface="Jost"/>
              </a:rPr>
              <a:t>Sold within seven months of launch</a:t>
            </a:r>
          </a:p>
        </p:txBody>
      </p:sp>
      <p:sp>
        <p:nvSpPr>
          <p:cNvPr id="10" name="Lumen"/>
          <p:cNvSpPr/>
          <p:nvPr/>
        </p:nvSpPr>
        <p:spPr>
          <a:xfrm rot="2700000">
            <a:off x="7672917" y="2838450"/>
            <a:ext cx="114300" cy="1143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009467" y="2489200"/>
            <a:ext cx="3420533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009467" y="27178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>
                <a:solidFill>
                  <a:srgbClr val="F7F2ED"/>
                </a:solidFill>
                <a:latin typeface="Jost ExtraLight"/>
              </a:rPr>
              <a:t>40.0</a:t>
            </a:r>
            <a:r>
              <a:rPr sz="2000">
                <a:solidFill>
                  <a:srgbClr val="D6C0B2"/>
                </a:solidFill>
                <a:latin typeface="Jost Light"/>
              </a:rPr>
              <a:t>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9467" y="37338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E9DDD4"/>
                </a:solidFill>
                <a:latin typeface="Jost"/>
              </a:rPr>
              <a:t>Gross development value · OMR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2000" y="4368800"/>
            <a:ext cx="3420533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62000" y="45974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>
                <a:solidFill>
                  <a:srgbClr val="F7F2ED"/>
                </a:solidFill>
                <a:latin typeface="Jost ExtraLight"/>
              </a:rPr>
              <a:t>27</a:t>
            </a:r>
            <a:r>
              <a:rPr sz="2000">
                <a:solidFill>
                  <a:srgbClr val="D6C0B2"/>
                </a:solidFill>
                <a:latin typeface="Jost Light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6134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E9DDD4"/>
                </a:solidFill>
                <a:latin typeface="Jost"/>
              </a:rPr>
              <a:t>Projected gross margin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85733" y="4368800"/>
            <a:ext cx="3420534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4385733" y="45974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>
                <a:solidFill>
                  <a:srgbClr val="F7F2ED"/>
                </a:solidFill>
                <a:latin typeface="Jost ExtraLight"/>
              </a:rPr>
              <a:t>6.4</a:t>
            </a:r>
            <a:r>
              <a:rPr sz="2000">
                <a:solidFill>
                  <a:srgbClr val="D6C0B2"/>
                </a:solidFill>
                <a:latin typeface="Jost Light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5733" y="56134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E9DDD4"/>
                </a:solidFill>
                <a:latin typeface="Jost"/>
              </a:rPr>
              <a:t>Projected gross rental yield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09467" y="4368800"/>
            <a:ext cx="3420533" cy="0"/>
          </a:xfrm>
          <a:prstGeom prst="line">
            <a:avLst/>
          </a:prstGeom>
          <a:ln w="9525">
            <a:solidFill>
              <a:srgbClr val="D6C0B2">
                <a:alpha val="28000"/>
              </a:srgbClr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009467" y="4597400"/>
            <a:ext cx="34205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>
                <a:solidFill>
                  <a:srgbClr val="F7F2ED"/>
                </a:solidFill>
                <a:latin typeface="Jost ExtraLight"/>
              </a:rPr>
              <a:t>2027</a:t>
            </a:r>
            <a:r>
              <a:rPr sz="2000">
                <a:solidFill>
                  <a:srgbClr val="D6C0B2"/>
                </a:solidFill>
                <a:latin typeface="Jost Light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9467" y="5613400"/>
            <a:ext cx="34205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E9DDD4"/>
                </a:solidFill>
                <a:latin typeface="Jost"/>
              </a:rPr>
              <a:t>Handover · Q4</a:t>
            </a:r>
          </a:p>
        </p:txBody>
      </p:sp>
      <p:sp>
        <p:nvSpPr>
          <p:cNvPr id="23" name="Lumen"/>
          <p:cNvSpPr/>
          <p:nvPr/>
        </p:nvSpPr>
        <p:spPr>
          <a:xfrm rot="2700000">
            <a:off x="7651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ooter · section"/>
          <p:cNvSpPr txBox="1"/>
          <p:nvPr/>
        </p:nvSpPr>
        <p:spPr>
          <a:xfrm>
            <a:off x="889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112">
                <a:solidFill>
                  <a:srgbClr val="D6C0B2"/>
                </a:solidFill>
                <a:latin typeface="Jost Medium"/>
              </a:rPr>
              <a:t>02 · PERFORMANCE</a:t>
            </a:r>
          </a:p>
        </p:txBody>
      </p:sp>
      <p:sp>
        <p:nvSpPr>
          <p:cNvPr id="25" name="Footer · page"/>
          <p:cNvSpPr txBox="1"/>
          <p:nvPr/>
        </p:nvSpPr>
        <p:spPr>
          <a:xfrm>
            <a:off x="102616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112">
                <a:solidFill>
                  <a:srgbClr val="D6C0B2"/>
                </a:solidFill>
                <a:latin typeface="Jost Medium"/>
              </a:rPr>
              <a:t>05</a:t>
            </a:r>
          </a:p>
        </p:txBody>
      </p:sp>
      <p:pic>
        <p:nvPicPr>
          <p:cNvPr id="26" name="SIRAJ wordmark" descr="SIRAJ_Logo_Sand_v1.0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762000" y="609600"/>
            <a:ext cx="70442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602733"/>
                </a:solidFill>
                <a:latin typeface="Jost Medium"/>
              </a:rPr>
              <a:t>SALES &amp; PRICING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62000" y="863600"/>
            <a:ext cx="885613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000">
                <a:solidFill>
                  <a:srgbClr val="140E10"/>
                </a:solidFill>
                <a:latin typeface="Jost Light"/>
              </a:rPr>
              <a:t>Steady absorption at a premium to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54200"/>
            <a:ext cx="5232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140E10"/>
                </a:solidFill>
                <a:latin typeface="Jost"/>
              </a:rPr>
              <a:t>Sales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146300"/>
            <a:ext cx="5232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25E"/>
                </a:solidFill>
                <a:latin typeface="Jost"/>
              </a:rPr>
              <a:t>Residences sold per month, 2026 · 84 to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7600" y="1854200"/>
            <a:ext cx="5232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140E10"/>
                </a:solidFill>
                <a:latin typeface="Jost"/>
              </a:rPr>
              <a:t>Price per 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2146300"/>
            <a:ext cx="5232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25E"/>
                </a:solidFill>
                <a:latin typeface="Jost"/>
              </a:rPr>
              <a:t>Average asking price, OMR per m² of saleable area</a:t>
            </a:r>
          </a:p>
        </p:txBody>
      </p:sp>
      <p:graphicFrame>
        <p:nvGraphicFramePr>
          <p:cNvPr id="8" name="Chart · Sales velocity"/>
          <p:cNvGraphicFramePr>
            <a:graphicFrameLocks noGrp="1"/>
          </p:cNvGraphicFramePr>
          <p:nvPr/>
        </p:nvGraphicFramePr>
        <p:xfrm>
          <a:off x="660400" y="2540000"/>
          <a:ext cx="5334000" cy="3175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· Price per m²"/>
          <p:cNvGraphicFramePr>
            <a:graphicFrameLocks noGrp="1"/>
          </p:cNvGraphicFramePr>
          <p:nvPr/>
        </p:nvGraphicFramePr>
        <p:xfrm>
          <a:off x="6096000" y="2540000"/>
          <a:ext cx="5334000" cy="3175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2000" y="6045200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B625E"/>
                </a:solidFill>
                <a:latin typeface="Jost"/>
              </a:rPr>
              <a:t>Source: SIRAJ sales records, Sep 2026. Market series are illustrative demonstration data.</a:t>
            </a:r>
          </a:p>
        </p:txBody>
      </p:sp>
      <p:sp>
        <p:nvSpPr>
          <p:cNvPr id="11" name="Lumen"/>
          <p:cNvSpPr/>
          <p:nvPr/>
        </p:nvSpPr>
        <p:spPr>
          <a:xfrm rot="2700000">
            <a:off x="7651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oter · section"/>
          <p:cNvSpPr txBox="1"/>
          <p:nvPr/>
        </p:nvSpPr>
        <p:spPr>
          <a:xfrm>
            <a:off x="889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112">
                <a:solidFill>
                  <a:srgbClr val="6B625E"/>
                </a:solidFill>
                <a:latin typeface="Jost Medium"/>
              </a:rPr>
              <a:t>02 · PERFORMANCE</a:t>
            </a:r>
          </a:p>
        </p:txBody>
      </p:sp>
      <p:sp>
        <p:nvSpPr>
          <p:cNvPr id="13" name="Footer · page"/>
          <p:cNvSpPr txBox="1"/>
          <p:nvPr/>
        </p:nvSpPr>
        <p:spPr>
          <a:xfrm>
            <a:off x="102616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112">
                <a:solidFill>
                  <a:srgbClr val="6B625E"/>
                </a:solidFill>
                <a:latin typeface="Jost Medium"/>
              </a:rPr>
              <a:t>06</a:t>
            </a:r>
          </a:p>
        </p:txBody>
      </p:sp>
      <p:pic>
        <p:nvPicPr>
          <p:cNvPr id="14" name="SIRAJ wordmark" descr="SIRAJ_Logo_Primary_v1.0_1024p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762000" y="609600"/>
            <a:ext cx="61383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602733"/>
                </a:solidFill>
                <a:latin typeface="Jost Medium"/>
              </a:rPr>
              <a:t>DELIVERY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62000" y="863600"/>
            <a:ext cx="613833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000">
                <a:solidFill>
                  <a:srgbClr val="140E10"/>
                </a:solidFill>
                <a:latin typeface="Jost Light"/>
              </a:rPr>
              <a:t>On programme for handover in Q4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6138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6B625E"/>
                </a:solidFill>
                <a:latin typeface="Jost"/>
              </a:rPr>
              <a:t>The structure has reached level 9 of 24. Construction is 38% complete.</a:t>
            </a:r>
          </a:p>
        </p:txBody>
      </p:sp>
      <p:pic>
        <p:nvPicPr>
          <p:cNvPr id="5" name="Site photo" descr="SIRAJ_Photo_Construction-Site-Dawn_v1.0.jpg"/>
          <p:cNvPicPr>
            <a:picLocks noChangeAspect="1"/>
          </p:cNvPicPr>
          <p:nvPr/>
        </p:nvPicPr>
        <p:blipFill>
          <a:blip r:embed="rId2"/>
          <a:srcRect t="10861" b="10861"/>
          <a:stretch>
            <a:fillRect/>
          </a:stretch>
        </p:blipFill>
        <p:spPr>
          <a:xfrm>
            <a:off x="7103533" y="609600"/>
            <a:ext cx="4326467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03533" y="2616200"/>
            <a:ext cx="4326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6B625E"/>
                </a:solidFill>
                <a:latin typeface="Jost Medium"/>
              </a:rPr>
              <a:t>SITE PROGRESS · OCTOBER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2000" y="4826000"/>
            <a:ext cx="106680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762000" y="4826000"/>
            <a:ext cx="5778500" cy="0"/>
          </a:xfrm>
          <a:prstGeom prst="line">
            <a:avLst/>
          </a:prstGeom>
          <a:ln w="19050">
            <a:solidFill>
              <a:srgbClr val="60273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540500" y="4216400"/>
            <a:ext cx="0" cy="609600"/>
          </a:xfrm>
          <a:prstGeom prst="line">
            <a:avLst/>
          </a:prstGeom>
          <a:ln w="9525">
            <a:solidFill>
              <a:srgbClr val="602733"/>
            </a:solidFill>
            <a:prstDash val="dash"/>
          </a:ln>
        </p:spPr>
      </p:cxnSp>
      <p:sp>
        <p:nvSpPr>
          <p:cNvPr id="10" name="TextBox 9"/>
          <p:cNvSpPr txBox="1"/>
          <p:nvPr/>
        </p:nvSpPr>
        <p:spPr>
          <a:xfrm>
            <a:off x="6629400" y="41656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02733"/>
                </a:solidFill>
                <a:latin typeface="Jost Medium"/>
              </a:rPr>
              <a:t>TODAY · OCT 2026</a:t>
            </a:r>
          </a:p>
        </p:txBody>
      </p:sp>
      <p:sp>
        <p:nvSpPr>
          <p:cNvPr id="11" name="Lumen"/>
          <p:cNvSpPr/>
          <p:nvPr/>
        </p:nvSpPr>
        <p:spPr>
          <a:xfrm rot="2700000">
            <a:off x="762000" y="4775200"/>
            <a:ext cx="101600" cy="101600"/>
          </a:xfrm>
          <a:prstGeom prst="rect">
            <a:avLst/>
          </a:prstGeom>
          <a:solidFill>
            <a:srgbClr val="6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18100"/>
            <a:ext cx="1155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140E10"/>
                </a:solidFill>
                <a:latin typeface="Jost Light"/>
              </a:rPr>
              <a:t>Q2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4610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40E10"/>
                </a:solidFill>
                <a:latin typeface="Jost Medium"/>
              </a:rPr>
              <a:t>Land acquired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6B625E"/>
                </a:solidFill>
                <a:latin typeface="Jost"/>
              </a:rPr>
              <a:t>Plot secured on Sultan Qaboos Street</a:t>
            </a:r>
          </a:p>
        </p:txBody>
      </p:sp>
      <p:sp>
        <p:nvSpPr>
          <p:cNvPr id="15" name="Lumen"/>
          <p:cNvSpPr/>
          <p:nvPr/>
        </p:nvSpPr>
        <p:spPr>
          <a:xfrm rot="2700000">
            <a:off x="2120900" y="4775200"/>
            <a:ext cx="101600" cy="101600"/>
          </a:xfrm>
          <a:prstGeom prst="rect">
            <a:avLst/>
          </a:prstGeom>
          <a:solidFill>
            <a:srgbClr val="6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0900" y="5118100"/>
            <a:ext cx="1155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140E10"/>
                </a:solidFill>
                <a:latin typeface="Jost Light"/>
              </a:rPr>
              <a:t>Q4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0900" y="54610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40E10"/>
                </a:solidFill>
                <a:latin typeface="Jost Medium"/>
              </a:rPr>
              <a:t>Permits &amp;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09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6B625E"/>
                </a:solidFill>
                <a:latin typeface="Jost"/>
              </a:rPr>
              <a:t>Building permit and design freeze</a:t>
            </a:r>
          </a:p>
        </p:txBody>
      </p:sp>
      <p:sp>
        <p:nvSpPr>
          <p:cNvPr id="19" name="Lumen"/>
          <p:cNvSpPr/>
          <p:nvPr/>
        </p:nvSpPr>
        <p:spPr>
          <a:xfrm rot="2700000">
            <a:off x="3479800" y="4775200"/>
            <a:ext cx="101600" cy="101600"/>
          </a:xfrm>
          <a:prstGeom prst="rect">
            <a:avLst/>
          </a:prstGeom>
          <a:solidFill>
            <a:srgbClr val="6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9800" y="5118100"/>
            <a:ext cx="1155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140E10"/>
                </a:solidFill>
                <a:latin typeface="Jost Light"/>
              </a:rPr>
              <a:t>Q1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9800" y="54610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40E10"/>
                </a:solidFill>
                <a:latin typeface="Jost Medium"/>
              </a:rPr>
              <a:t>Sales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98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6B625E"/>
                </a:solidFill>
                <a:latin typeface="Jost"/>
              </a:rPr>
              <a:t>Released to market in March</a:t>
            </a:r>
          </a:p>
        </p:txBody>
      </p:sp>
      <p:sp>
        <p:nvSpPr>
          <p:cNvPr id="23" name="Lumen"/>
          <p:cNvSpPr/>
          <p:nvPr/>
        </p:nvSpPr>
        <p:spPr>
          <a:xfrm rot="2700000">
            <a:off x="4838700" y="4775200"/>
            <a:ext cx="101600" cy="101600"/>
          </a:xfrm>
          <a:prstGeom prst="rect">
            <a:avLst/>
          </a:prstGeom>
          <a:solidFill>
            <a:srgbClr val="6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38700" y="5118100"/>
            <a:ext cx="1155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140E10"/>
                </a:solidFill>
                <a:latin typeface="Jost Light"/>
              </a:rPr>
              <a:t>Q2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8700" y="54610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40E10"/>
                </a:solidFill>
                <a:latin typeface="Jost Medium"/>
              </a:rPr>
              <a:t>Foundations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87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6B625E"/>
                </a:solidFill>
                <a:latin typeface="Jost"/>
              </a:rPr>
              <a:t>Piling and two basement levels</a:t>
            </a:r>
          </a:p>
        </p:txBody>
      </p:sp>
      <p:sp>
        <p:nvSpPr>
          <p:cNvPr id="27" name="Lumen"/>
          <p:cNvSpPr/>
          <p:nvPr/>
        </p:nvSpPr>
        <p:spPr>
          <a:xfrm rot="2700000">
            <a:off x="6197600" y="4775200"/>
            <a:ext cx="101600" cy="101600"/>
          </a:xfrm>
          <a:prstGeom prst="rect">
            <a:avLst/>
          </a:prstGeom>
          <a:solidFill>
            <a:srgbClr val="6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7600" y="5118100"/>
            <a:ext cx="1155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140E10"/>
                </a:solidFill>
                <a:latin typeface="Jost Light"/>
              </a:rPr>
              <a:t>Q3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7600" y="54610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40E10"/>
                </a:solidFill>
                <a:latin typeface="Jost Medium"/>
              </a:rPr>
              <a:t>Podium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76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6B625E"/>
                </a:solidFill>
                <a:latin typeface="Jost"/>
              </a:rPr>
              <a:t>Podium slab and amenity shell</a:t>
            </a:r>
          </a:p>
        </p:txBody>
      </p:sp>
      <p:sp>
        <p:nvSpPr>
          <p:cNvPr id="31" name="Lumen"/>
          <p:cNvSpPr/>
          <p:nvPr/>
        </p:nvSpPr>
        <p:spPr>
          <a:xfrm rot="2700000">
            <a:off x="7556500" y="4775200"/>
            <a:ext cx="101600" cy="101600"/>
          </a:xfrm>
          <a:prstGeom prst="rect">
            <a:avLst/>
          </a:prstGeom>
          <a:noFill/>
          <a:ln w="12700">
            <a:solidFill>
              <a:srgbClr val="AA9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6500" y="5118100"/>
            <a:ext cx="1155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140E10"/>
                </a:solidFill>
                <a:latin typeface="Jost Light"/>
              </a:rPr>
              <a:t>Q2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6500" y="54610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40E10"/>
                </a:solidFill>
                <a:latin typeface="Jost Medium"/>
              </a:rPr>
              <a:t>Topping 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565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6B625E"/>
                </a:solidFill>
                <a:latin typeface="Jost"/>
              </a:rPr>
              <a:t>Structure complete to level 24</a:t>
            </a:r>
          </a:p>
        </p:txBody>
      </p:sp>
      <p:sp>
        <p:nvSpPr>
          <p:cNvPr id="35" name="Lumen"/>
          <p:cNvSpPr/>
          <p:nvPr/>
        </p:nvSpPr>
        <p:spPr>
          <a:xfrm rot="2700000">
            <a:off x="8915400" y="4775200"/>
            <a:ext cx="101600" cy="101600"/>
          </a:xfrm>
          <a:prstGeom prst="rect">
            <a:avLst/>
          </a:prstGeom>
          <a:noFill/>
          <a:ln w="12700">
            <a:solidFill>
              <a:srgbClr val="AA9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5118100"/>
            <a:ext cx="1155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140E10"/>
                </a:solidFill>
                <a:latin typeface="Jost Light"/>
              </a:rPr>
              <a:t>Q3 2027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54610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40E10"/>
                </a:solidFill>
                <a:latin typeface="Jost Medium"/>
              </a:rPr>
              <a:t>Façade &amp; fit-out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6B625E"/>
                </a:solidFill>
                <a:latin typeface="Jost"/>
              </a:rPr>
              <a:t>Envelope sealed, interiors underway</a:t>
            </a:r>
          </a:p>
        </p:txBody>
      </p:sp>
      <p:sp>
        <p:nvSpPr>
          <p:cNvPr id="39" name="Lumen"/>
          <p:cNvSpPr/>
          <p:nvPr/>
        </p:nvSpPr>
        <p:spPr>
          <a:xfrm rot="2700000">
            <a:off x="10274300" y="4775200"/>
            <a:ext cx="101600" cy="1016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74300" y="5118100"/>
            <a:ext cx="11557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>
                <a:solidFill>
                  <a:srgbClr val="140E10"/>
                </a:solidFill>
                <a:latin typeface="Jost Light"/>
              </a:rPr>
              <a:t>Q4 2027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4300" y="54610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140E10"/>
                </a:solidFill>
                <a:latin typeface="Jost Medium"/>
              </a:rPr>
              <a:t>Handover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74300" y="5689600"/>
            <a:ext cx="1155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6B625E"/>
                </a:solidFill>
                <a:latin typeface="Jost"/>
              </a:rPr>
              <a:t>Keys to the first residents</a:t>
            </a:r>
          </a:p>
        </p:txBody>
      </p:sp>
      <p:sp>
        <p:nvSpPr>
          <p:cNvPr id="43" name="Lumen"/>
          <p:cNvSpPr/>
          <p:nvPr/>
        </p:nvSpPr>
        <p:spPr>
          <a:xfrm rot="2700000">
            <a:off x="7651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ooter · section"/>
          <p:cNvSpPr txBox="1"/>
          <p:nvPr/>
        </p:nvSpPr>
        <p:spPr>
          <a:xfrm>
            <a:off x="889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112">
                <a:solidFill>
                  <a:srgbClr val="6B625E"/>
                </a:solidFill>
                <a:latin typeface="Jost Medium"/>
              </a:rPr>
              <a:t>02 · PERFORMANCE</a:t>
            </a:r>
          </a:p>
        </p:txBody>
      </p:sp>
      <p:sp>
        <p:nvSpPr>
          <p:cNvPr id="45" name="Footer · page"/>
          <p:cNvSpPr txBox="1"/>
          <p:nvPr/>
        </p:nvSpPr>
        <p:spPr>
          <a:xfrm>
            <a:off x="102616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112">
                <a:solidFill>
                  <a:srgbClr val="6B625E"/>
                </a:solidFill>
                <a:latin typeface="Jost Medium"/>
              </a:rPr>
              <a:t>07</a:t>
            </a:r>
          </a:p>
        </p:txBody>
      </p:sp>
      <p:pic>
        <p:nvPicPr>
          <p:cNvPr id="46" name="SIRAJ wordmark" descr="SIRAJ_Logo_Primary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ull-bleed image" descr="SIRAJ_Photo_Apartment-Interior-Sea-View_v1.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70608">
                  <a:alpha val="72000"/>
                </a:srgbClr>
              </a:gs>
              <a:gs pos="38000">
                <a:srgbClr val="170608">
                  <a:alpha val="40000"/>
                </a:srgbClr>
              </a:gs>
              <a:gs pos="62000">
                <a:srgbClr val="170608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crim"/>
          <p:cNvSpPr/>
          <p:nvPr/>
        </p:nvSpPr>
        <p:spPr>
          <a:xfrm>
            <a:off x="0" y="3810000"/>
            <a:ext cx="12192000" cy="3048000"/>
          </a:xfrm>
          <a:prstGeom prst="rect">
            <a:avLst/>
          </a:prstGeom>
          <a:gradFill rotWithShape="1">
            <a:gsLst>
              <a:gs pos="0">
                <a:srgbClr val="170608">
                  <a:alpha val="0"/>
                </a:srgbClr>
              </a:gs>
              <a:gs pos="100000">
                <a:srgbClr val="170608">
                  <a:alpha val="5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yebrow"/>
          <p:cNvSpPr txBox="1"/>
          <p:nvPr/>
        </p:nvSpPr>
        <p:spPr>
          <a:xfrm>
            <a:off x="762000" y="609600"/>
            <a:ext cx="4326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D6C0B2"/>
                </a:solidFill>
                <a:latin typeface="Jost Medium"/>
              </a:rPr>
              <a:t>THE RESIDENCES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863600"/>
            <a:ext cx="4326467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000">
                <a:solidFill>
                  <a:srgbClr val="F7F2ED"/>
                </a:solidFill>
                <a:latin typeface="Jost Light"/>
              </a:rPr>
              <a:t>Every home opens to the light of the Gulf.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06600"/>
            <a:ext cx="5232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D6C0B2"/>
                </a:solidFill>
                <a:latin typeface="Jost Medium"/>
              </a:rPr>
              <a:t>TYPICAL TWO-BEDROOM LIVING ROOM · VISUALISATION</a:t>
            </a:r>
          </a:p>
        </p:txBody>
      </p:sp>
      <p:sp>
        <p:nvSpPr>
          <p:cNvPr id="8" name="Lumen"/>
          <p:cNvSpPr/>
          <p:nvPr/>
        </p:nvSpPr>
        <p:spPr>
          <a:xfrm rot="2700000">
            <a:off x="7651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· section"/>
          <p:cNvSpPr txBox="1"/>
          <p:nvPr/>
        </p:nvSpPr>
        <p:spPr>
          <a:xfrm>
            <a:off x="889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112">
                <a:solidFill>
                  <a:srgbClr val="D6C0B2"/>
                </a:solidFill>
                <a:latin typeface="Jost Medium"/>
              </a:rPr>
              <a:t>01 · THE PROJECT</a:t>
            </a:r>
          </a:p>
        </p:txBody>
      </p:sp>
      <p:sp>
        <p:nvSpPr>
          <p:cNvPr id="10" name="Footer · page"/>
          <p:cNvSpPr txBox="1"/>
          <p:nvPr/>
        </p:nvSpPr>
        <p:spPr>
          <a:xfrm>
            <a:off x="102616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112">
                <a:solidFill>
                  <a:srgbClr val="D6C0B2"/>
                </a:solidFill>
                <a:latin typeface="Jost Medium"/>
              </a:rPr>
              <a:t>08</a:t>
            </a:r>
          </a:p>
        </p:txBody>
      </p:sp>
      <p:pic>
        <p:nvPicPr>
          <p:cNvPr id="11" name="SIRAJ wordmark" descr="SIRAJ_Logo_Sand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762000" y="609600"/>
            <a:ext cx="70442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602733"/>
                </a:solidFill>
                <a:latin typeface="Jost Medium"/>
              </a:rPr>
              <a:t>FINANCIALS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62000" y="863600"/>
            <a:ext cx="704426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000">
                <a:solidFill>
                  <a:srgbClr val="140E10"/>
                </a:solidFill>
                <a:latin typeface="Jost Light"/>
              </a:rPr>
              <a:t>Development budget and returns</a:t>
            </a:r>
          </a:p>
        </p:txBody>
      </p:sp>
      <p:graphicFrame>
        <p:nvGraphicFramePr>
          <p:cNvPr id="4" name="Table · Budget"/>
          <p:cNvGraphicFramePr>
            <a:graphicFrameLocks noGrp="1"/>
          </p:cNvGraphicFramePr>
          <p:nvPr/>
        </p:nvGraphicFramePr>
        <p:xfrm>
          <a:off x="762000" y="1841500"/>
          <a:ext cx="7044267" cy="33655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17707"/>
                <a:gridCol w="1267968"/>
                <a:gridCol w="1479296"/>
                <a:gridCol w="1479296"/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sz="750" spc="120">
                          <a:solidFill>
                            <a:srgbClr val="6B625E"/>
                          </a:solidFill>
                          <a:latin typeface="Jost Medium"/>
                        </a:rPr>
                        <a:t>BUDGET LINE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spc="120">
                          <a:solidFill>
                            <a:srgbClr val="6B625E"/>
                          </a:solidFill>
                          <a:latin typeface="Jost Medium"/>
                        </a:rPr>
                        <a:t>OMR M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spc="120">
                          <a:solidFill>
                            <a:srgbClr val="6B625E"/>
                          </a:solidFill>
                          <a:latin typeface="Jost Medium"/>
                        </a:rPr>
                        <a:t>SHARE OF COST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spc="120">
                          <a:solidFill>
                            <a:srgbClr val="6B625E"/>
                          </a:solidFill>
                          <a:latin typeface="Jost Medium"/>
                        </a:rPr>
                        <a:t>COMMITTED TO DATE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B3436"/>
                          </a:solidFill>
                          <a:latin typeface="Jost"/>
                        </a:rPr>
                        <a:t>Land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4.6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15.8%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B3436"/>
                          </a:solidFill>
                          <a:latin typeface="Jost"/>
                        </a:rPr>
                        <a:t>Construction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19.8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67.8%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46%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B3436"/>
                          </a:solidFill>
                          <a:latin typeface="Jost"/>
                        </a:rPr>
                        <a:t>Professional fees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1.9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6.5%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72%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B3436"/>
                          </a:solidFill>
                          <a:latin typeface="Jost"/>
                        </a:rPr>
                        <a:t>Marketing &amp; sales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1.2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4.1%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38%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AA9180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B3436"/>
                          </a:solidFill>
                          <a:latin typeface="Jost"/>
                        </a:rPr>
                        <a:t>Finance &amp; contingency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1.7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5.8%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 Light"/>
                        </a:rPr>
                        <a:t>30%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B3436"/>
                      </a:solidFill>
                    </a:lnB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40E10"/>
                          </a:solidFill>
                          <a:latin typeface="Jost Medium"/>
                        </a:rPr>
                        <a:t>Total development cost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"/>
                        </a:rPr>
                        <a:t>29.2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"/>
                        </a:rPr>
                        <a:t>100.0%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40E10"/>
                          </a:solidFill>
                          <a:latin typeface="Jost"/>
                        </a:rPr>
                        <a:t>55%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" y="5461000"/>
            <a:ext cx="70442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>
                <a:solidFill>
                  <a:srgbClr val="6B625E"/>
                </a:solidFill>
                <a:latin typeface="Jost"/>
              </a:rPr>
              <a:t>Figures in OMR million unless stated. Projections are illustrative and subject to change.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915400" y="18415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915400" y="1981200"/>
            <a:ext cx="2514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GROSS DEVELOPMENT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184400"/>
            <a:ext cx="25146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>
                <a:solidFill>
                  <a:srgbClr val="140E10"/>
                </a:solidFill>
                <a:latin typeface="Jost Light"/>
              </a:rPr>
              <a:t>OMR 40.0 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15400" y="26543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915400" y="2794000"/>
            <a:ext cx="2514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GROSS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997200"/>
            <a:ext cx="25146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>
                <a:solidFill>
                  <a:srgbClr val="140E10"/>
                </a:solidFill>
                <a:latin typeface="Jost Light"/>
              </a:rPr>
              <a:t>OMR 10.8 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15400" y="34671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915400" y="3606800"/>
            <a:ext cx="2514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810000"/>
            <a:ext cx="25146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>
                <a:solidFill>
                  <a:srgbClr val="602733"/>
                </a:solidFill>
                <a:latin typeface="Jost Light"/>
              </a:rPr>
              <a:t>27.0%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15400" y="42799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915400" y="4419600"/>
            <a:ext cx="2514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PROJECT IRR, UNLEVERED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622800"/>
            <a:ext cx="25146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>
                <a:solidFill>
                  <a:srgbClr val="140E10"/>
                </a:solidFill>
                <a:latin typeface="Jost Light"/>
              </a:rPr>
              <a:t>19.6%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15400" y="50927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915400" y="5232400"/>
            <a:ext cx="25146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spc="120">
                <a:solidFill>
                  <a:srgbClr val="6B625E"/>
                </a:solidFill>
                <a:latin typeface="Jost Medium"/>
              </a:rPr>
              <a:t>CONTRACTED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5435600"/>
            <a:ext cx="25146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>
                <a:solidFill>
                  <a:srgbClr val="140E10"/>
                </a:solidFill>
                <a:latin typeface="Jost Light"/>
              </a:rPr>
              <a:t>OMR 18.4 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15400" y="5905500"/>
            <a:ext cx="25146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2" name="Lumen"/>
          <p:cNvSpPr/>
          <p:nvPr/>
        </p:nvSpPr>
        <p:spPr>
          <a:xfrm rot="2700000">
            <a:off x="7651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 · section"/>
          <p:cNvSpPr txBox="1"/>
          <p:nvPr/>
        </p:nvSpPr>
        <p:spPr>
          <a:xfrm>
            <a:off x="889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112">
                <a:solidFill>
                  <a:srgbClr val="6B625E"/>
                </a:solidFill>
                <a:latin typeface="Jost Medium"/>
              </a:rPr>
              <a:t>03 · INVESTMENT</a:t>
            </a:r>
          </a:p>
        </p:txBody>
      </p:sp>
      <p:sp>
        <p:nvSpPr>
          <p:cNvPr id="24" name="Footer · page"/>
          <p:cNvSpPr txBox="1"/>
          <p:nvPr/>
        </p:nvSpPr>
        <p:spPr>
          <a:xfrm>
            <a:off x="102616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112">
                <a:solidFill>
                  <a:srgbClr val="6B625E"/>
                </a:solidFill>
                <a:latin typeface="Jost Medium"/>
              </a:rPr>
              <a:t>09</a:t>
            </a:r>
          </a:p>
        </p:txBody>
      </p:sp>
      <p:pic>
        <p:nvPicPr>
          <p:cNvPr id="25" name="SIRAJ wordmark" descr="SIRAJ_Logo_Primary_v1.0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umen halo"/>
          <p:cNvSpPr/>
          <p:nvPr/>
        </p:nvSpPr>
        <p:spPr>
          <a:xfrm>
            <a:off x="234950" y="863600"/>
            <a:ext cx="1524000" cy="1524000"/>
          </a:xfrm>
          <a:prstGeom prst="ellipse">
            <a:avLst/>
          </a:prstGeom>
          <a:gradFill rotWithShape="1">
            <a:gsLst>
              <a:gs pos="0">
                <a:srgbClr val="D6C0B2">
                  <a:alpha val="55000"/>
                </a:srgbClr>
              </a:gs>
              <a:gs pos="100000">
                <a:srgbClr val="D6C0B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umen"/>
          <p:cNvSpPr/>
          <p:nvPr/>
        </p:nvSpPr>
        <p:spPr>
          <a:xfrm rot="2700000">
            <a:off x="831850" y="1460500"/>
            <a:ext cx="330200" cy="3302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730500"/>
            <a:ext cx="79502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>
                <a:solidFill>
                  <a:srgbClr val="F7F2ED"/>
                </a:solidFill>
                <a:latin typeface="Jost Light"/>
              </a:rPr>
              <a:t>We build slowly, so that the people who live here can live quietly.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2000" y="4521200"/>
            <a:ext cx="304800" cy="0"/>
          </a:xfrm>
          <a:prstGeom prst="line">
            <a:avLst/>
          </a:prstGeom>
          <a:ln w="9525">
            <a:solidFill>
              <a:srgbClr val="D6C0B2">
                <a:alpha val="60000"/>
              </a:srgbClr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1193800" y="4445000"/>
            <a:ext cx="635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128">
                <a:solidFill>
                  <a:srgbClr val="D6C0B2"/>
                </a:solidFill>
                <a:latin typeface="Jost Medium"/>
              </a:rPr>
              <a:t>CHIEF EXECUTIVE OFFICER · SIRAJ REAL ESTATE DEVELOPMENT</a:t>
            </a:r>
          </a:p>
        </p:txBody>
      </p:sp>
      <p:sp>
        <p:nvSpPr>
          <p:cNvPr id="7" name="Lumen"/>
          <p:cNvSpPr/>
          <p:nvPr/>
        </p:nvSpPr>
        <p:spPr>
          <a:xfrm rot="2700000">
            <a:off x="7651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· section"/>
          <p:cNvSpPr txBox="1"/>
          <p:nvPr/>
        </p:nvSpPr>
        <p:spPr>
          <a:xfrm>
            <a:off x="889000" y="649605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112">
                <a:solidFill>
                  <a:srgbClr val="D6C0B2"/>
                </a:solidFill>
                <a:latin typeface="Jost Medium"/>
              </a:rPr>
              <a:t>CLOSING</a:t>
            </a:r>
          </a:p>
        </p:txBody>
      </p:sp>
      <p:sp>
        <p:nvSpPr>
          <p:cNvPr id="9" name="Footer · page"/>
          <p:cNvSpPr txBox="1"/>
          <p:nvPr/>
        </p:nvSpPr>
        <p:spPr>
          <a:xfrm>
            <a:off x="10261600" y="6496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112">
                <a:solidFill>
                  <a:srgbClr val="D6C0B2"/>
                </a:solidFill>
                <a:latin typeface="Jost Medium"/>
              </a:rPr>
              <a:t>10</a:t>
            </a:r>
          </a:p>
        </p:txBody>
      </p:sp>
      <p:pic>
        <p:nvPicPr>
          <p:cNvPr id="10" name="SIRAJ wordmark" descr="SIRAJ_Logo_Sand_v1.0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6464300"/>
            <a:ext cx="609600" cy="1744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ilk background" descr="SIRAJ_Silk_Gateway_16x9_v1.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IRAJ wordmark" descr="SIRAJ_Logo_Sand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00" y="2095500"/>
            <a:ext cx="2159000" cy="617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060700"/>
            <a:ext cx="12192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>
                <a:solidFill>
                  <a:srgbClr val="D6C0B2"/>
                </a:solidFill>
                <a:latin typeface="Jost Light"/>
              </a:rPr>
              <a:t>Light,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98900"/>
            <a:ext cx="1219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spc="128">
                <a:solidFill>
                  <a:srgbClr val="D6C0B2"/>
                </a:solidFill>
                <a:latin typeface="Jost Medium"/>
              </a:rPr>
              <a:t>BOOK A PRIVATE VIEWING AT THE SIRAJ SALES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16400"/>
            <a:ext cx="1219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E9DDD4"/>
                </a:solidFill>
                <a:latin typeface="Jost Light"/>
              </a:rPr>
              <a:t>sirajproperties.net   ◆   info@sirajproperties.net   ◆   +968 2400 0000   ◆   Al Khuwair, Muscat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99200"/>
            <a:ext cx="1219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>
                <a:solidFill>
                  <a:srgbClr val="D6C0B2"/>
                </a:solidFill>
                <a:latin typeface="Jost"/>
              </a:rPr>
              <a:t>Noor Residences is a demonstration project. All figures are illustrative and do not constitute an offer.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06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ortal image" descr="SIRAJ_Photo_Campaign-Silk-Wrap_v1.0.jpg"/>
          <p:cNvPicPr>
            <a:picLocks noChangeAspect="1"/>
          </p:cNvPicPr>
          <p:nvPr/>
        </p:nvPicPr>
        <p:blipFill>
          <a:blip r:embed="rId2"/>
          <a:srcRect t="12371" b="18557"/>
          <a:stretch>
            <a:fillRect/>
          </a:stretch>
        </p:blipFill>
        <p:spPr>
          <a:xfrm>
            <a:off x="0" y="609600"/>
            <a:ext cx="5088467" cy="6248400"/>
          </a:xfrm>
          <a:prstGeom prst="round2SameRect">
            <a:avLst>
              <a:gd name="adj1" fmla="val 34000"/>
              <a:gd name="adj2" fmla="val 0"/>
            </a:avLst>
          </a:prstGeom>
        </p:spPr>
      </p:pic>
      <p:pic>
        <p:nvPicPr>
          <p:cNvPr id="3" name="SIRAJ wordmark" descr="SIRAJ_Logo_Sand_v1.0_1024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09600"/>
            <a:ext cx="1066800" cy="305246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6197600" y="29845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000" lang="ar-OM">
                <a:solidFill>
                  <a:srgbClr val="D6C0B2"/>
                </a:solidFill>
                <a:latin typeface="Tajawal Medium"/>
                <a:cs typeface="Tajawal Medium"/>
              </a:rPr>
              <a:t>عرض المستثمرين · أكتوبر 2026</a:t>
            </a:r>
          </a:p>
        </p:txBody>
      </p:sp>
      <p:sp>
        <p:nvSpPr>
          <p:cNvPr id="5" name="Lumen"/>
          <p:cNvSpPr/>
          <p:nvPr/>
        </p:nvSpPr>
        <p:spPr>
          <a:xfrm rot="2700000">
            <a:off x="11379200" y="3060700"/>
            <a:ext cx="50800" cy="508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"/>
          <p:cNvSpPr txBox="1"/>
          <p:nvPr/>
        </p:nvSpPr>
        <p:spPr>
          <a:xfrm>
            <a:off x="6197600" y="3302000"/>
            <a:ext cx="5232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5800" lang="ar-OM">
                <a:solidFill>
                  <a:srgbClr val="F7F2ED"/>
                </a:solidFill>
                <a:latin typeface="Tajawal Light"/>
                <a:cs typeface="Tajawal Light"/>
              </a:rPr>
              <a:t>مساكن نور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4318000"/>
            <a:ext cx="5232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>
                <a:solidFill>
                  <a:srgbClr val="D6C0B2"/>
                </a:solidFill>
                <a:latin typeface="Jost Light"/>
              </a:rPr>
              <a:t>Noor Residences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7600" y="4889500"/>
            <a:ext cx="5232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lang="ar-OM">
                <a:solidFill>
                  <a:srgbClr val="E9DDD4"/>
                </a:solidFill>
                <a:latin typeface="Tajawal Light"/>
                <a:cs typeface="Tajawal Light"/>
              </a:rPr>
              <a:t>برج سكني من 24 طابقاً يضم 168 وحدة سكنية في الخوير، مسقط.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6464300"/>
            <a:ext cx="5232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lang="ar-OM">
                <a:solidFill>
                  <a:srgbClr val="D6C0B2"/>
                </a:solidFill>
                <a:latin typeface="Tajawal Medium"/>
                <a:cs typeface="Tajawal Medium"/>
              </a:rPr>
              <a:t>سراج للتطوير العقاري · سرّي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7103533" y="609600"/>
            <a:ext cx="432646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000" lang="ar-OM">
                <a:solidFill>
                  <a:srgbClr val="602733"/>
                </a:solidFill>
                <a:latin typeface="Tajawal Medium"/>
                <a:cs typeface="Tajawal Medium"/>
              </a:rPr>
              <a:t>الملخص التنفيذي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103533" y="863600"/>
            <a:ext cx="4326467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lang="ar-OM">
                <a:solidFill>
                  <a:srgbClr val="140E10"/>
                </a:solidFill>
                <a:latin typeface="Tajawal Light"/>
                <a:cs typeface="Tajawal Light"/>
              </a:rPr>
              <a:t>برج هادئ في قلب مسقط، بيع نصفه خلال سبعة أشهر.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2000" y="6604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5" name="Lumen"/>
          <p:cNvSpPr/>
          <p:nvPr/>
        </p:nvSpPr>
        <p:spPr>
          <a:xfrm rot="2700000">
            <a:off x="5924550" y="10350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89000"/>
            <a:ext cx="4876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50" lang="ar-OM">
                <a:solidFill>
                  <a:srgbClr val="140E10"/>
                </a:solidFill>
                <a:latin typeface="Tajawal Medium"/>
                <a:cs typeface="Tajawal Medium"/>
              </a:rPr>
              <a:t>عنوان مميّز ومتّصل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270000"/>
            <a:ext cx="4876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lang="ar-OM">
                <a:solidFill>
                  <a:srgbClr val="6B625E"/>
                </a:solidFill>
                <a:latin typeface="Tajawal"/>
                <a:cs typeface="Tajawal"/>
              </a:rPr>
              <a:t>على شارع السلطان قابوس في الخوير، على بُعد خمس دقائق من الجامع الأكبر وربع ساعة من المطار.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2000" y="20066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9" name="Lumen"/>
          <p:cNvSpPr/>
          <p:nvPr/>
        </p:nvSpPr>
        <p:spPr>
          <a:xfrm rot="2700000">
            <a:off x="5924550" y="23812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235200"/>
            <a:ext cx="4876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50" lang="ar-OM">
                <a:solidFill>
                  <a:srgbClr val="140E10"/>
                </a:solidFill>
                <a:latin typeface="Tajawal Medium"/>
                <a:cs typeface="Tajawal Medium"/>
              </a:rPr>
              <a:t>إقبال قوي منذ الإطلاق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16200"/>
            <a:ext cx="4876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lang="ar-OM">
                <a:solidFill>
                  <a:srgbClr val="6B625E"/>
                </a:solidFill>
                <a:latin typeface="Tajawal"/>
                <a:cs typeface="Tajawal"/>
              </a:rPr>
              <a:t>بيعت 84 وحدة من أصل 168 منذ الإطلاق في مارس 2026، بمعدل 12 وحدة شهرياً تقريباً.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2000" y="33528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3" name="Lumen"/>
          <p:cNvSpPr/>
          <p:nvPr/>
        </p:nvSpPr>
        <p:spPr>
          <a:xfrm rot="2700000">
            <a:off x="5924550" y="37274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3581400"/>
            <a:ext cx="4876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50" lang="ar-OM">
                <a:solidFill>
                  <a:srgbClr val="140E10"/>
                </a:solidFill>
                <a:latin typeface="Tajawal Medium"/>
                <a:cs typeface="Tajawal Medium"/>
              </a:rPr>
              <a:t>جدوى اقتصادية متينة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962400"/>
            <a:ext cx="4876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lang="ar-OM">
                <a:solidFill>
                  <a:srgbClr val="6B625E"/>
                </a:solidFill>
                <a:latin typeface="Tajawal"/>
                <a:cs typeface="Tajawal"/>
              </a:rPr>
              <a:t>قيمة تطوير إجمالية 40.0 مليون ر.ع. وهامش ربح إجمالي متوقع 27% على ميزانية 29.2 مليون ر.ع.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2000" y="46990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17" name="Lumen"/>
          <p:cNvSpPr/>
          <p:nvPr/>
        </p:nvSpPr>
        <p:spPr>
          <a:xfrm rot="2700000">
            <a:off x="5924550" y="5073650"/>
            <a:ext cx="63500" cy="6350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4927600"/>
            <a:ext cx="4876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50" lang="ar-OM">
                <a:solidFill>
                  <a:srgbClr val="140E10"/>
                </a:solidFill>
                <a:latin typeface="Tajawal Medium"/>
                <a:cs typeface="Tajawal Medium"/>
              </a:rPr>
              <a:t>التسليم في الربع الرابع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308600"/>
            <a:ext cx="4876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lang="ar-OM">
                <a:solidFill>
                  <a:srgbClr val="6B625E"/>
                </a:solidFill>
                <a:latin typeface="Tajawal"/>
                <a:cs typeface="Tajawal"/>
              </a:rPr>
              <a:t>اكتملت الأساسات والمنصة، ووصل الهيكل إلى الطابق 9 من 24.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2000" y="6045200"/>
            <a:ext cx="5232400" cy="0"/>
          </a:xfrm>
          <a:prstGeom prst="line">
            <a:avLst/>
          </a:prstGeom>
          <a:ln w="9525">
            <a:solidFill>
              <a:srgbClr val="AA9180"/>
            </a:solidFill>
          </a:ln>
        </p:spPr>
      </p:cxnSp>
      <p:sp>
        <p:nvSpPr>
          <p:cNvPr id="21" name="Lumen"/>
          <p:cNvSpPr/>
          <p:nvPr/>
        </p:nvSpPr>
        <p:spPr>
          <a:xfrm rot="2700000">
            <a:off x="11382375" y="6530975"/>
            <a:ext cx="44450" cy="44450"/>
          </a:xfrm>
          <a:prstGeom prst="rect">
            <a:avLst/>
          </a:prstGeom>
          <a:solidFill>
            <a:srgbClr val="AA9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ooter · section"/>
          <p:cNvSpPr txBox="1"/>
          <p:nvPr/>
        </p:nvSpPr>
        <p:spPr>
          <a:xfrm>
            <a:off x="6985000" y="6489700"/>
            <a:ext cx="434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lang="ar-OM">
                <a:solidFill>
                  <a:srgbClr val="6B625E"/>
                </a:solidFill>
                <a:latin typeface="Tajawal Medium"/>
                <a:cs typeface="Tajawal Medium"/>
              </a:rPr>
              <a:t>الملخص التنفيذي</a:t>
            </a:r>
          </a:p>
        </p:txBody>
      </p:sp>
      <p:pic>
        <p:nvPicPr>
          <p:cNvPr id="23" name="SIRAJ wordmark" descr="SIRAJ_Logo_Primary_v1.0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464300"/>
            <a:ext cx="609600" cy="174427"/>
          </a:xfrm>
          <a:prstGeom prst="rect">
            <a:avLst/>
          </a:prstGeom>
        </p:spPr>
      </p:pic>
      <p:sp>
        <p:nvSpPr>
          <p:cNvPr id="24" name="Footer · page"/>
          <p:cNvSpPr txBox="1"/>
          <p:nvPr/>
        </p:nvSpPr>
        <p:spPr>
          <a:xfrm>
            <a:off x="1524000" y="64897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112">
                <a:solidFill>
                  <a:srgbClr val="6B625E"/>
                </a:solidFill>
                <a:latin typeface="Jost Medium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RAJ">
  <a:themeElements>
    <a:clrScheme name="SIRAJ">
      <a:dk1>
        <a:srgbClr val="140E10"/>
      </a:dk1>
      <a:lt1>
        <a:srgbClr val="F7F2ED"/>
      </a:lt1>
      <a:dk2>
        <a:srgbClr val="2C0F12"/>
      </a:dk2>
      <a:lt2>
        <a:srgbClr val="EFE7E0"/>
      </a:lt2>
      <a:accent1>
        <a:srgbClr val="602733"/>
      </a:accent1>
      <a:accent2>
        <a:srgbClr val="AA9180"/>
      </a:accent2>
      <a:accent3>
        <a:srgbClr val="3B3436"/>
      </a:accent3>
      <a:accent4>
        <a:srgbClr val="C79A9C"/>
      </a:accent4>
      <a:accent5>
        <a:srgbClr val="8E837D"/>
      </a:accent5>
      <a:accent6>
        <a:srgbClr val="2C0F12"/>
      </a:accent6>
      <a:hlink>
        <a:srgbClr val="602733"/>
      </a:hlink>
      <a:folHlink>
        <a:srgbClr val="81404C"/>
      </a:folHlink>
    </a:clrScheme>
    <a:fontScheme name="SIRAJ">
      <a:majorFont>
        <a:latin typeface="Jost Light"/>
        <a:ea typeface=""/>
        <a:cs typeface="Tajawal Light"/>
        <a:font script="Jpan" typeface="ＭＳ Ｐゴシック"/>
        <a:font script="Hang" typeface="맑은 고딕"/>
        <a:font script="Hans" typeface="宋体"/>
        <a:font script="Hant" typeface="新細明體"/>
        <a:font script="Arab" typeface="Tajawal Light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Jost"/>
        <a:ea typeface=""/>
        <a:cs typeface="Tajawal"/>
        <a:font script="Jpan" typeface="ＭＳ Ｐゴシック"/>
        <a:font script="Hang" typeface="맑은 고딕"/>
        <a:font script="Hans" typeface="宋体"/>
        <a:font script="Hant" typeface="新細明體"/>
        <a:font script="Arab" typeface="Tajaw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SIRAJ Presentation Template v1.0</dc:title>
  <dc:subject>Noor Residences — sample investor presentation (demonstration project)</dc:subject>
  <dc:creator>SIRAJ Real Estate Development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